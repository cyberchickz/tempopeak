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88825"/>
  <p:notesSz cx="6858000" cy="9144000"/>
  <p:embeddedFontLst>
    <p:embeddedFont>
      <p:font typeface="Helvetica Neue"/>
      <p:regular r:id="rId20"/>
      <p:bold r:id="rId21"/>
      <p:italic r:id="rId22"/>
      <p:boldItalic r:id="rId23"/>
    </p:embeddedFon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972">
          <p15:clr>
            <a:srgbClr val="A4A3A4"/>
          </p15:clr>
        </p15:guide>
        <p15:guide id="2" orient="horz" pos="347">
          <p15:clr>
            <a:srgbClr val="A4A3A4"/>
          </p15:clr>
        </p15:guide>
        <p15:guide id="3" orient="horz" pos="1872">
          <p15:clr>
            <a:srgbClr val="A4A3A4"/>
          </p15:clr>
        </p15:guide>
        <p15:guide id="4" pos="7112">
          <p15:clr>
            <a:srgbClr val="A4A3A4"/>
          </p15:clr>
        </p15:guide>
        <p15:guide id="5" pos="3839">
          <p15:clr>
            <a:srgbClr val="A4A3A4"/>
          </p15:clr>
        </p15:guide>
      </p15:sldGuideLst>
    </p:ext>
    <p:ext uri="GoogleSlidesCustomDataVersion2">
      <go:slidesCustomData xmlns:go="http://customooxmlschemas.google.com/" r:id="rId28" roundtripDataSignature="AMtx7mhfpcaV24YT7NSUJd+SvTzHoHyK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972" orient="horz"/>
        <p:guide pos="347" orient="horz"/>
        <p:guide pos="1872" orient="horz"/>
        <p:guide pos="7112"/>
        <p:guide pos="3839"/>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20" Type="http://schemas.openxmlformats.org/officeDocument/2006/relationships/font" Target="fonts/HelveticaNeue-regular.fntdata"/><Relationship Id="rId22" Type="http://schemas.openxmlformats.org/officeDocument/2006/relationships/font" Target="fonts/HelveticaNeue-italic.fntdata"/><Relationship Id="rId21" Type="http://schemas.openxmlformats.org/officeDocument/2006/relationships/font" Target="fonts/HelveticaNeue-bold.fntdata"/><Relationship Id="rId24" Type="http://schemas.openxmlformats.org/officeDocument/2006/relationships/font" Target="fonts/RobotoMono-regular.fntdata"/><Relationship Id="rId23" Type="http://schemas.openxmlformats.org/officeDocument/2006/relationships/font" Target="fonts/HelveticaNeue-boldItalic.fntdata"/><Relationship Id="rId26" Type="http://schemas.openxmlformats.org/officeDocument/2006/relationships/font" Target="fonts/RobotoMono-italic.fntdata"/><Relationship Id="rId25" Type="http://schemas.openxmlformats.org/officeDocument/2006/relationships/font" Target="fonts/RobotoMono-bold.fntdata"/><Relationship Id="rId28" Type="http://customschemas.google.com/relationships/presentationmetadata" Target="metadata"/><Relationship Id="rId27"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1 — Title</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TempoPeak: hit frame detection in tennis video. Core question: which temporal architecture is best for this task, and why.</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This project covers dataset construction, temporal head ablation across 5 architectures and 3 window sizes, and a loss function analysis that reveals an unexpected ranking flip. All experiments run on H100 80GB with pre-extracted ViT-B-16 features.</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r>
              <a:t/>
            </a:r>
            <a:endParaRPr/>
          </a:p>
        </p:txBody>
      </p:sp>
      <p:sp>
        <p:nvSpPr>
          <p:cNvPr id="332" name="Google Shape;33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b3ab29c72c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2 — Problem Definition</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The task: given a video clip of a tennis player, predict the exact frame where racket meets ball. One frame — not a segment, not a window. This is a localization problem over time, not classification.</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Formally: input is a sequence of per-frame player crops </a:t>
            </a:r>
            <a:r>
              <a:rPr lang="en-US" sz="1100">
                <a:solidFill>
                  <a:srgbClr val="188038"/>
                </a:solidFill>
                <a:latin typeface="Roboto Mono"/>
                <a:ea typeface="Roboto Mono"/>
                <a:cs typeface="Roboto Mono"/>
                <a:sym typeface="Roboto Mono"/>
              </a:rPr>
              <a:t>[T, 3, H, W]</a:t>
            </a:r>
            <a:r>
              <a:rPr lang="en-US" sz="1100"/>
              <a:t>, output is a scalar </a:t>
            </a:r>
            <a:r>
              <a:rPr lang="en-US" sz="1100">
                <a:solidFill>
                  <a:srgbClr val="188038"/>
                </a:solidFill>
                <a:latin typeface="Roboto Mono"/>
                <a:ea typeface="Roboto Mono"/>
                <a:cs typeface="Roboto Mono"/>
                <a:sym typeface="Roboto Mono"/>
              </a:rPr>
              <a:t>t* ∈ {0, ..., T-1}</a:t>
            </a:r>
            <a:r>
              <a:rPr lang="en-US" sz="1100"/>
              <a:t>. The controlled ablation fixes T=32 per sample. Ultimate target is full-match inference where T can be thousands of frames.</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r>
              <a:t/>
            </a:r>
            <a:endParaRPr/>
          </a:p>
        </p:txBody>
      </p:sp>
      <p:sp>
        <p:nvSpPr>
          <p:cNvPr id="338" name="Google Shape;338;g3b3ab29c72c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88880a09f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solidFill>
                  <a:srgbClr val="2B303B"/>
                </a:solidFill>
              </a:rPr>
              <a:t>{</a:t>
            </a:r>
            <a:endParaRPr sz="1100"/>
          </a:p>
          <a:p>
            <a:pPr indent="457200" lvl="0" marL="0" rtl="0" algn="l">
              <a:lnSpc>
                <a:spcPct val="100000"/>
              </a:lnSpc>
              <a:spcBef>
                <a:spcPts val="0"/>
              </a:spcBef>
              <a:spcAft>
                <a:spcPts val="0"/>
              </a:spcAft>
              <a:buSzPts val="1400"/>
              <a:buNone/>
            </a:pPr>
            <a:r>
              <a:rPr lang="en-US" sz="1100">
                <a:solidFill>
                  <a:srgbClr val="B80A18"/>
                </a:solidFill>
              </a:rPr>
              <a:t>"clip"</a:t>
            </a:r>
            <a:r>
              <a:rPr lang="en-US" sz="1100">
                <a:solidFill>
                  <a:srgbClr val="14181F"/>
                </a:solidFill>
              </a:rPr>
              <a:t>:</a:t>
            </a:r>
            <a:r>
              <a:rPr lang="en-US" sz="1100"/>
              <a:t> </a:t>
            </a:r>
            <a:r>
              <a:rPr lang="en-US" sz="1100">
                <a:solidFill>
                  <a:srgbClr val="008000"/>
                </a:solidFill>
              </a:rPr>
              <a:t>"00001"</a:t>
            </a:r>
            <a:r>
              <a:rPr lang="en-US" sz="1100">
                <a:solidFill>
                  <a:srgbClr val="2B303B"/>
                </a:solidFill>
              </a:rPr>
              <a:t>,</a:t>
            </a:r>
            <a:r>
              <a:rPr lang="en-US" sz="1100"/>
              <a:t> </a:t>
            </a:r>
            <a:r>
              <a:rPr lang="en-US" sz="1100">
                <a:solidFill>
                  <a:srgbClr val="B80A18"/>
                </a:solidFill>
              </a:rPr>
              <a:t>"total_frames"</a:t>
            </a:r>
            <a:r>
              <a:rPr lang="en-US" sz="1100">
                <a:solidFill>
                  <a:srgbClr val="14181F"/>
                </a:solidFill>
              </a:rPr>
              <a:t>:</a:t>
            </a:r>
            <a:r>
              <a:rPr lang="en-US" sz="1100"/>
              <a:t> </a:t>
            </a:r>
            <a:r>
              <a:rPr lang="en-US" sz="1100">
                <a:solidFill>
                  <a:srgbClr val="008080"/>
                </a:solidFill>
              </a:rPr>
              <a:t>167</a:t>
            </a:r>
            <a:r>
              <a:rPr lang="en-US" sz="1100">
                <a:solidFill>
                  <a:srgbClr val="2B303B"/>
                </a:solidFill>
              </a:rPr>
              <a:t>,</a:t>
            </a:r>
            <a:endParaRPr sz="1100"/>
          </a:p>
          <a:p>
            <a:pPr indent="457200" lvl="0" marL="0" rtl="0" algn="l">
              <a:lnSpc>
                <a:spcPct val="100000"/>
              </a:lnSpc>
              <a:spcBef>
                <a:spcPts val="0"/>
              </a:spcBef>
              <a:spcAft>
                <a:spcPts val="0"/>
              </a:spcAft>
              <a:buSzPts val="1400"/>
              <a:buNone/>
            </a:pPr>
            <a:r>
              <a:rPr lang="en-US" sz="1100">
                <a:solidFill>
                  <a:srgbClr val="B80A18"/>
                </a:solidFill>
              </a:rPr>
              <a:t>"hits"</a:t>
            </a:r>
            <a:r>
              <a:rPr lang="en-US" sz="1100">
                <a:solidFill>
                  <a:srgbClr val="14181F"/>
                </a:solidFill>
              </a:rPr>
              <a:t>:</a:t>
            </a:r>
            <a:r>
              <a:rPr lang="en-US" sz="1100"/>
              <a:t> </a:t>
            </a:r>
            <a:r>
              <a:rPr lang="en-US" sz="1100">
                <a:solidFill>
                  <a:srgbClr val="2B303B"/>
                </a:solidFill>
              </a:rPr>
              <a:t>[</a:t>
            </a:r>
            <a:r>
              <a:rPr lang="en-US" sz="1100">
                <a:solidFill>
                  <a:srgbClr val="008080"/>
                </a:solidFill>
              </a:rPr>
              <a:t>4</a:t>
            </a:r>
            <a:r>
              <a:rPr lang="en-US" sz="1100">
                <a:solidFill>
                  <a:srgbClr val="2B303B"/>
                </a:solidFill>
              </a:rPr>
              <a:t>,</a:t>
            </a:r>
            <a:r>
              <a:rPr lang="en-US" sz="1100"/>
              <a:t> </a:t>
            </a:r>
            <a:r>
              <a:rPr lang="en-US" sz="1100">
                <a:solidFill>
                  <a:srgbClr val="008080"/>
                </a:solidFill>
              </a:rPr>
              <a:t>28</a:t>
            </a:r>
            <a:r>
              <a:rPr lang="en-US" sz="1100">
                <a:solidFill>
                  <a:srgbClr val="2B303B"/>
                </a:solidFill>
              </a:rPr>
              <a:t>,</a:t>
            </a:r>
            <a:r>
              <a:rPr lang="en-US" sz="1100"/>
              <a:t> </a:t>
            </a:r>
            <a:r>
              <a:rPr lang="en-US" sz="1100">
                <a:solidFill>
                  <a:srgbClr val="008080"/>
                </a:solidFill>
              </a:rPr>
              <a:t>61</a:t>
            </a:r>
            <a:r>
              <a:rPr lang="en-US" sz="1100">
                <a:solidFill>
                  <a:srgbClr val="2B303B"/>
                </a:solidFill>
              </a:rPr>
              <a:t>,</a:t>
            </a:r>
            <a:r>
              <a:rPr lang="en-US" sz="1100"/>
              <a:t> </a:t>
            </a:r>
            <a:r>
              <a:rPr lang="en-US" sz="1100">
                <a:solidFill>
                  <a:srgbClr val="008080"/>
                </a:solidFill>
              </a:rPr>
              <a:t>95</a:t>
            </a:r>
            <a:r>
              <a:rPr lang="en-US" sz="1100">
                <a:solidFill>
                  <a:srgbClr val="2B303B"/>
                </a:solidFill>
              </a:rPr>
              <a:t>],</a:t>
            </a:r>
            <a:r>
              <a:rPr lang="en-US" sz="1100"/>
              <a:t> </a:t>
            </a:r>
            <a:endParaRPr sz="1100"/>
          </a:p>
          <a:p>
            <a:pPr indent="457200" lvl="0" marL="0" rtl="0" algn="l">
              <a:lnSpc>
                <a:spcPct val="100000"/>
              </a:lnSpc>
              <a:spcBef>
                <a:spcPts val="0"/>
              </a:spcBef>
              <a:spcAft>
                <a:spcPts val="0"/>
              </a:spcAft>
              <a:buSzPts val="1400"/>
              <a:buNone/>
            </a:pPr>
            <a:r>
              <a:rPr lang="en-US" sz="1100">
                <a:solidFill>
                  <a:srgbClr val="B80A18"/>
                </a:solidFill>
              </a:rPr>
              <a:t>"hitters"</a:t>
            </a:r>
            <a:r>
              <a:rPr lang="en-US" sz="1100">
                <a:solidFill>
                  <a:srgbClr val="14181F"/>
                </a:solidFill>
              </a:rPr>
              <a:t>:</a:t>
            </a:r>
            <a:r>
              <a:rPr lang="en-US" sz="1100"/>
              <a:t> </a:t>
            </a:r>
            <a:r>
              <a:rPr lang="en-US" sz="1100">
                <a:solidFill>
                  <a:srgbClr val="2B303B"/>
                </a:solidFill>
              </a:rPr>
              <a:t>[</a:t>
            </a:r>
            <a:r>
              <a:rPr lang="en-US" sz="1100">
                <a:solidFill>
                  <a:srgbClr val="008080"/>
                </a:solidFill>
              </a:rPr>
              <a:t>2</a:t>
            </a:r>
            <a:r>
              <a:rPr lang="en-US" sz="1100">
                <a:solidFill>
                  <a:srgbClr val="2B303B"/>
                </a:solidFill>
              </a:rPr>
              <a:t>,</a:t>
            </a:r>
            <a:r>
              <a:rPr lang="en-US" sz="1100"/>
              <a:t> </a:t>
            </a:r>
            <a:r>
              <a:rPr lang="en-US" sz="1100">
                <a:solidFill>
                  <a:srgbClr val="008080"/>
                </a:solidFill>
              </a:rPr>
              <a:t>1</a:t>
            </a:r>
            <a:r>
              <a:rPr lang="en-US" sz="1100">
                <a:solidFill>
                  <a:srgbClr val="2B303B"/>
                </a:solidFill>
              </a:rPr>
              <a:t>,</a:t>
            </a:r>
            <a:r>
              <a:rPr lang="en-US" sz="1100"/>
              <a:t> </a:t>
            </a:r>
            <a:r>
              <a:rPr lang="en-US" sz="1100">
                <a:solidFill>
                  <a:srgbClr val="008080"/>
                </a:solidFill>
              </a:rPr>
              <a:t>2</a:t>
            </a:r>
            <a:r>
              <a:rPr lang="en-US" sz="1100">
                <a:solidFill>
                  <a:srgbClr val="2B303B"/>
                </a:solidFill>
              </a:rPr>
              <a:t>,</a:t>
            </a:r>
            <a:r>
              <a:rPr lang="en-US" sz="1100"/>
              <a:t> </a:t>
            </a:r>
            <a:r>
              <a:rPr lang="en-US" sz="1100">
                <a:solidFill>
                  <a:srgbClr val="008080"/>
                </a:solidFill>
              </a:rPr>
              <a:t>1</a:t>
            </a:r>
            <a:r>
              <a:rPr lang="en-US" sz="1100">
                <a:solidFill>
                  <a:srgbClr val="2B303B"/>
                </a:solidFill>
              </a:rPr>
              <a:t>],</a:t>
            </a:r>
            <a:r>
              <a:rPr lang="en-US" sz="1100"/>
              <a:t> </a:t>
            </a:r>
            <a:endParaRPr sz="1100"/>
          </a:p>
          <a:p>
            <a:pPr indent="457200" lvl="0" marL="0" rtl="0" algn="l">
              <a:lnSpc>
                <a:spcPct val="100000"/>
              </a:lnSpc>
              <a:spcBef>
                <a:spcPts val="0"/>
              </a:spcBef>
              <a:spcAft>
                <a:spcPts val="0"/>
              </a:spcAft>
              <a:buSzPts val="1400"/>
              <a:buNone/>
            </a:pPr>
            <a:r>
              <a:rPr lang="en-US" sz="1100">
                <a:solidFill>
                  <a:srgbClr val="B80A18"/>
                </a:solidFill>
              </a:rPr>
              <a:t>"frames"</a:t>
            </a:r>
            <a:r>
              <a:rPr lang="en-US" sz="1100">
                <a:solidFill>
                  <a:srgbClr val="14181F"/>
                </a:solidFill>
              </a:rPr>
              <a:t>:</a:t>
            </a:r>
            <a:r>
              <a:rPr lang="en-US" sz="1100"/>
              <a:t> </a:t>
            </a:r>
            <a:r>
              <a:rPr lang="en-US" sz="1100">
                <a:solidFill>
                  <a:srgbClr val="2B303B"/>
                </a:solidFill>
              </a:rPr>
              <a:t>{</a:t>
            </a:r>
            <a:r>
              <a:rPr lang="en-US" sz="1100"/>
              <a:t> </a:t>
            </a:r>
            <a:endParaRPr sz="1100"/>
          </a:p>
          <a:p>
            <a:pPr indent="457200" lvl="0" marL="457200" rtl="0" algn="l">
              <a:lnSpc>
                <a:spcPct val="100000"/>
              </a:lnSpc>
              <a:spcBef>
                <a:spcPts val="0"/>
              </a:spcBef>
              <a:spcAft>
                <a:spcPts val="0"/>
              </a:spcAft>
              <a:buSzPts val="1400"/>
              <a:buNone/>
            </a:pPr>
            <a:r>
              <a:rPr lang="en-US" sz="1100">
                <a:solidFill>
                  <a:srgbClr val="B80A18"/>
                </a:solidFill>
              </a:rPr>
              <a:t>"0"</a:t>
            </a:r>
            <a:r>
              <a:rPr lang="en-US" sz="1100">
                <a:solidFill>
                  <a:srgbClr val="14181F"/>
                </a:solidFill>
              </a:rPr>
              <a:t>:</a:t>
            </a:r>
            <a:r>
              <a:rPr lang="en-US" sz="1100"/>
              <a:t> </a:t>
            </a:r>
            <a:r>
              <a:rPr lang="en-US" sz="1100">
                <a:solidFill>
                  <a:srgbClr val="2B303B"/>
                </a:solidFill>
              </a:rPr>
              <a:t>{</a:t>
            </a:r>
            <a:r>
              <a:rPr lang="en-US" sz="1100">
                <a:solidFill>
                  <a:srgbClr val="B80A18"/>
                </a:solidFill>
              </a:rPr>
              <a:t>"p1"</a:t>
            </a:r>
            <a:r>
              <a:rPr lang="en-US" sz="1100">
                <a:solidFill>
                  <a:srgbClr val="14181F"/>
                </a:solidFill>
              </a:rPr>
              <a:t>:</a:t>
            </a:r>
            <a:r>
              <a:rPr lang="en-US" sz="1100"/>
              <a:t> </a:t>
            </a:r>
            <a:r>
              <a:rPr lang="en-US" sz="1100">
                <a:solidFill>
                  <a:srgbClr val="2B303B"/>
                </a:solidFill>
              </a:rPr>
              <a:t>{</a:t>
            </a:r>
            <a:r>
              <a:rPr lang="en-US" sz="1100">
                <a:solidFill>
                  <a:srgbClr val="B80A18"/>
                </a:solidFill>
              </a:rPr>
              <a:t>"x1"</a:t>
            </a:r>
            <a:r>
              <a:rPr lang="en-US" sz="1100">
                <a:solidFill>
                  <a:srgbClr val="14181F"/>
                </a:solidFill>
              </a:rPr>
              <a:t>:</a:t>
            </a:r>
            <a:r>
              <a:rPr lang="en-US" sz="1100"/>
              <a:t>...</a:t>
            </a:r>
            <a:r>
              <a:rPr lang="en-US" sz="1100">
                <a:solidFill>
                  <a:srgbClr val="2B303B"/>
                </a:solidFill>
              </a:rPr>
              <a:t>,</a:t>
            </a:r>
            <a:r>
              <a:rPr lang="en-US" sz="1100">
                <a:solidFill>
                  <a:srgbClr val="B80A18"/>
                </a:solidFill>
              </a:rPr>
              <a:t>"y1"</a:t>
            </a:r>
            <a:r>
              <a:rPr lang="en-US" sz="1100">
                <a:solidFill>
                  <a:srgbClr val="14181F"/>
                </a:solidFill>
              </a:rPr>
              <a:t>:</a:t>
            </a:r>
            <a:r>
              <a:rPr lang="en-US" sz="1100"/>
              <a:t>...</a:t>
            </a:r>
            <a:r>
              <a:rPr lang="en-US" sz="1100">
                <a:solidFill>
                  <a:srgbClr val="2B303B"/>
                </a:solidFill>
              </a:rPr>
              <a:t>,</a:t>
            </a:r>
            <a:r>
              <a:rPr lang="en-US" sz="1100">
                <a:solidFill>
                  <a:srgbClr val="B80A18"/>
                </a:solidFill>
              </a:rPr>
              <a:t>"x2"</a:t>
            </a:r>
            <a:r>
              <a:rPr lang="en-US" sz="1100">
                <a:solidFill>
                  <a:srgbClr val="14181F"/>
                </a:solidFill>
              </a:rPr>
              <a:t>:</a:t>
            </a:r>
            <a:r>
              <a:rPr lang="en-US" sz="1100"/>
              <a:t>...</a:t>
            </a:r>
            <a:r>
              <a:rPr lang="en-US" sz="1100">
                <a:solidFill>
                  <a:srgbClr val="2B303B"/>
                </a:solidFill>
              </a:rPr>
              <a:t>,</a:t>
            </a:r>
            <a:r>
              <a:rPr lang="en-US" sz="1100">
                <a:solidFill>
                  <a:srgbClr val="B80A18"/>
                </a:solidFill>
              </a:rPr>
              <a:t>"y2"</a:t>
            </a:r>
            <a:r>
              <a:rPr lang="en-US" sz="1100">
                <a:solidFill>
                  <a:srgbClr val="14181F"/>
                </a:solidFill>
              </a:rPr>
              <a:t>:</a:t>
            </a:r>
            <a:r>
              <a:rPr lang="en-US" sz="1100"/>
              <a:t>...</a:t>
            </a:r>
            <a:r>
              <a:rPr lang="en-US" sz="1100">
                <a:solidFill>
                  <a:srgbClr val="2B303B"/>
                </a:solidFill>
              </a:rPr>
              <a:t>},</a:t>
            </a:r>
            <a:r>
              <a:rPr lang="en-US" sz="1100"/>
              <a:t> </a:t>
            </a:r>
            <a:r>
              <a:rPr lang="en-US" sz="1100">
                <a:solidFill>
                  <a:srgbClr val="B80A18"/>
                </a:solidFill>
              </a:rPr>
              <a:t>"p2"</a:t>
            </a:r>
            <a:r>
              <a:rPr lang="en-US" sz="1100">
                <a:solidFill>
                  <a:srgbClr val="14181F"/>
                </a:solidFill>
              </a:rPr>
              <a:t>:</a:t>
            </a:r>
            <a:r>
              <a:rPr lang="en-US" sz="1100"/>
              <a:t> </a:t>
            </a:r>
            <a:r>
              <a:rPr lang="en-US" sz="1100">
                <a:solidFill>
                  <a:srgbClr val="2B303B"/>
                </a:solidFill>
              </a:rPr>
              <a:t>{</a:t>
            </a:r>
            <a:r>
              <a:rPr lang="en-US" sz="1100"/>
              <a:t>...</a:t>
            </a:r>
            <a:r>
              <a:rPr lang="en-US" sz="1100">
                <a:solidFill>
                  <a:srgbClr val="2B303B"/>
                </a:solidFill>
              </a:rPr>
              <a:t>}}</a:t>
            </a:r>
            <a:r>
              <a:rPr lang="en-US" sz="1100"/>
              <a:t> </a:t>
            </a:r>
            <a:endParaRPr sz="1100"/>
          </a:p>
          <a:p>
            <a:pPr indent="0" lvl="0" marL="457200" rtl="0" algn="l">
              <a:lnSpc>
                <a:spcPct val="100000"/>
              </a:lnSpc>
              <a:spcBef>
                <a:spcPts val="0"/>
              </a:spcBef>
              <a:spcAft>
                <a:spcPts val="0"/>
              </a:spcAft>
              <a:buSzPts val="1400"/>
              <a:buNone/>
            </a:pPr>
            <a:r>
              <a:rPr lang="en-US" sz="1100">
                <a:solidFill>
                  <a:srgbClr val="2B303B"/>
                </a:solidFill>
              </a:rPr>
              <a:t>}</a:t>
            </a:r>
            <a:endParaRPr sz="1100"/>
          </a:p>
          <a:p>
            <a:pPr indent="0" lvl="0" marL="0" rtl="0" algn="l">
              <a:lnSpc>
                <a:spcPct val="100000"/>
              </a:lnSpc>
              <a:spcBef>
                <a:spcPts val="0"/>
              </a:spcBef>
              <a:spcAft>
                <a:spcPts val="0"/>
              </a:spcAft>
              <a:buSzPts val="1400"/>
              <a:buNone/>
            </a:pPr>
            <a:r>
              <a:rPr lang="en-US" sz="1100">
                <a:solidFill>
                  <a:srgbClr val="2B303B"/>
                </a:solidFill>
              </a:rPr>
              <a:t>}</a:t>
            </a:r>
            <a:br>
              <a:rPr lang="en-US" sz="1100">
                <a:solidFill>
                  <a:srgbClr val="2B303B"/>
                </a:solidFill>
              </a:rPr>
            </a:br>
            <a:r>
              <a:rPr b="1" lang="en-US" sz="1700"/>
              <a:t>Slide 3 — Dataset Construction</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No existing dataset for this. Built from scratch: 27 match clips, 178 labeled hit frames, all from 30fps broadcast footage. Critical design choice: we record which player hits each shot, so the model only sees that player's crop, not both.</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Data format per clip: </a:t>
            </a:r>
            <a:r>
              <a:rPr lang="en-US" sz="1100">
                <a:solidFill>
                  <a:srgbClr val="188038"/>
                </a:solidFill>
                <a:latin typeface="Roboto Mono"/>
                <a:ea typeface="Roboto Mono"/>
                <a:cs typeface="Roboto Mono"/>
                <a:sym typeface="Roboto Mono"/>
              </a:rPr>
              <a:t>{"hits": [4, 28, 61], "hitters": [2,1,2], "frames": {"0": {"p1": {bbox}, "p2": {bbox}}}}</a:t>
            </a:r>
            <a:r>
              <a:rPr lang="en-US" sz="1100"/>
              <a:t>. Minimum adjacent hit gap: 13 frames (~0.43s), found in net-exchange rallies. HIT_MARGIN=6 pads both sides of each training window to prevent neighboring hit contamination. Annotation toolchain: 5 custom modules — Video Clipper, HIT Annotator, Person Labeler, SAM3 Mask Extractor, Clip Review. Final hit frame accuracy: ±1 frame, human-verified.</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r>
              <a:t/>
            </a:r>
            <a:endParaRPr sz="1100">
              <a:solidFill>
                <a:srgbClr val="2B303B"/>
              </a:solidFill>
            </a:endParaRPr>
          </a:p>
        </p:txBody>
      </p:sp>
      <p:sp>
        <p:nvSpPr>
          <p:cNvPr id="348" name="Google Shape;348;g3c88880a09f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b3ab29c72c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4 — Pipeline</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Three stages: ViT-B-16 extracts per-frame features — frozen, temporally blind. Then a temporal head processes the sequence. Then EDL loss trains the model to locate the hit. We only swap the temporal head; everything else is fixed.</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ViT-B-16 (86M params, frozen) outputs 768-dim CLS tokens. A linear projection maps 768→512 before the head. The head outputs </a:t>
            </a:r>
            <a:r>
              <a:rPr lang="en-US" sz="1100">
                <a:solidFill>
                  <a:srgbClr val="188038"/>
                </a:solidFill>
                <a:latin typeface="Roboto Mono"/>
                <a:ea typeface="Roboto Mono"/>
                <a:cs typeface="Roboto Mono"/>
                <a:sym typeface="Roboto Mono"/>
              </a:rPr>
              <a:t>[B, T]</a:t>
            </a:r>
            <a:r>
              <a:rPr lang="en-US" sz="1100"/>
              <a:t> logits; EDL loss computes </a:t>
            </a:r>
            <a:r>
              <a:rPr lang="en-US" sz="1100">
                <a:solidFill>
                  <a:srgbClr val="188038"/>
                </a:solidFill>
                <a:latin typeface="Roboto Mono"/>
                <a:ea typeface="Roboto Mono"/>
                <a:cs typeface="Roboto Mono"/>
                <a:sym typeface="Roboto Mono"/>
              </a:rPr>
              <a:t>|Σ t·softmax(logits) - t_gt|</a:t>
            </a:r>
            <a:r>
              <a:rPr lang="en-US" sz="1100"/>
              <a:t>. Note: the CLI flag is </a:t>
            </a:r>
            <a:r>
              <a:rPr lang="en-US" sz="1100">
                <a:solidFill>
                  <a:srgbClr val="188038"/>
                </a:solidFill>
                <a:latin typeface="Roboto Mono"/>
                <a:ea typeface="Roboto Mono"/>
                <a:cs typeface="Roboto Mono"/>
                <a:sym typeface="Roboto Mono"/>
              </a:rPr>
              <a:t>--backbone=vit_small</a:t>
            </a:r>
            <a:r>
              <a:rPr lang="en-US" sz="1100"/>
              <a:t> but this loads </a:t>
            </a:r>
            <a:r>
              <a:rPr lang="en-US" sz="1100">
                <a:solidFill>
                  <a:srgbClr val="188038"/>
                </a:solidFill>
                <a:latin typeface="Roboto Mono"/>
                <a:ea typeface="Roboto Mono"/>
                <a:cs typeface="Roboto Mono"/>
                <a:sym typeface="Roboto Mono"/>
              </a:rPr>
              <a:t>models.vit_b_16</a:t>
            </a:r>
            <a:r>
              <a:rPr lang="en-US" sz="1100"/>
              <a:t> — a naming alias, confirmed by D=768 in all training logs.</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r>
              <a:t/>
            </a:r>
            <a:endParaRPr/>
          </a:p>
        </p:txBody>
      </p:sp>
      <p:sp>
        <p:nvSpPr>
          <p:cNvPr id="356" name="Google Shape;356;g3b3ab29c72c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c88880a09f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5 — Variants</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Five heads, same everything else. Identity is the no-op baseline — it tells us how much ViT features alone can do without any temporal reasoning. BiLSTM is the 1997 RNN benchmark. Transformer is the 2017 attention baseline. Mamba2 and BiMamba2 are the 2024 SSM candidates.</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Parameter counts: Identity 0.4M, BiLSTM 1.1M (+ dropout=0.3), Transformer 6.8M (d_model=512, nhead=8, 2 layers, learnable positional encoding), Mamba2 1.4M (d_model=256, d_state=64, headdim=64, 2 layers), BiMamba2 2.3M (same but forward + backward scan concatenated). All trained with AdamW lr=1e-3, batch=256, 30 epochs, CosineAnnealingLR, grad clip 1.0.</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r>
              <a:t/>
            </a:r>
            <a:endParaRPr b="1" sz="1600"/>
          </a:p>
        </p:txBody>
      </p:sp>
      <p:sp>
        <p:nvSpPr>
          <p:cNvPr id="362" name="Google Shape;362;g3c88880a09f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c88880a09f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6 — Why EDL?</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Gaussian soft label: gradient nearly disappears more than 5 frames from the hit. The model can't tell how wrong it is when it's far off. EDL directly optimizes the expected position of the probability distribution — penalty grows linearly with distance. Off by 10 frames gets 10× the gradient of off by 1.</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EDL formula: </a:t>
            </a:r>
            <a:r>
              <a:rPr lang="en-US" sz="1100">
                <a:solidFill>
                  <a:srgbClr val="188038"/>
                </a:solidFill>
                <a:latin typeface="Roboto Mono"/>
                <a:ea typeface="Roboto Mono"/>
                <a:cs typeface="Roboto Mono"/>
                <a:sym typeface="Roboto Mono"/>
              </a:rPr>
              <a:t>loss = mean(|Σ_t t·softmax(logits_t) - t_gt|)</a:t>
            </a:r>
            <a:r>
              <a:rPr lang="en-US" sz="1100"/>
              <a:t>. Gradient flows to every frame proportional to its distance from the hit. Gaussian CE: </a:t>
            </a:r>
            <a:r>
              <a:rPr lang="en-US" sz="1100">
                <a:solidFill>
                  <a:srgbClr val="188038"/>
                </a:solidFill>
                <a:latin typeface="Roboto Mono"/>
                <a:ea typeface="Roboto Mono"/>
                <a:cs typeface="Roboto Mono"/>
                <a:sym typeface="Roboto Mono"/>
              </a:rPr>
              <a:t>loss = -Σ_t q_t · log p_t</a:t>
            </a:r>
            <a:r>
              <a:rPr lang="en-US" sz="1100"/>
              <a:t> where </a:t>
            </a:r>
            <a:r>
              <a:rPr lang="en-US" sz="1100">
                <a:solidFill>
                  <a:srgbClr val="188038"/>
                </a:solidFill>
                <a:latin typeface="Roboto Mono"/>
                <a:ea typeface="Roboto Mono"/>
                <a:cs typeface="Roboto Mono"/>
                <a:sym typeface="Roboto Mono"/>
              </a:rPr>
              <a:t>q_t = exp(-(t-t*)²/2σ²)</a:t>
            </a:r>
            <a:r>
              <a:rPr lang="en-US" sz="1100"/>
              <a:t>. At t=t*±5 with σ=2, </a:t>
            </a:r>
            <a:r>
              <a:rPr lang="en-US" sz="1100">
                <a:solidFill>
                  <a:srgbClr val="188038"/>
                </a:solidFill>
                <a:latin typeface="Roboto Mono"/>
                <a:ea typeface="Roboto Mono"/>
                <a:cs typeface="Roboto Mono"/>
                <a:sym typeface="Roboto Mono"/>
              </a:rPr>
              <a:t>q_t ≈ 0.002</a:t>
            </a:r>
            <a:r>
              <a:rPr lang="en-US" sz="1100"/>
              <a:t> — gradient effectively zero. EDL removes this dead zone.</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r>
              <a:t/>
            </a:r>
            <a:endParaRPr/>
          </a:p>
        </p:txBody>
      </p:sp>
      <p:sp>
        <p:nvSpPr>
          <p:cNvPr id="368" name="Google Shape;368;g3c88880a09f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0d24bea63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700"/>
              <a:t>Slide 7 — The Collapse</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BiLSTM's train loss hits 0.0001 by epoch 30. Val Acc@1 peaks at epoch 2 and never recovers. It memorized the training windows. Mamba2 train loss stabilizes at 0.065 — and val holds at 58.6%. Same loss, same data, different architecture, completely different behavior.</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Mechanism: EDL's sharp distance-proportional gradient pushes the model to assign all probability mass to one frame. BiLSTM's gating finds a shortcut — it memorizes each window's hit position rather than learning visual features. Adding dropout=0.3 raises train loss slightly (0.001) but val drops further to 48.3% — regularization damaged the signal without fixing the structural problem. Mamba2's conv1d local mixing enforces temporal smoothing: probability mass can't concentrate arbitrarily fast, acting as implicit regularization. This is a structural property of the SSD algorithm, not a tuned hyperparameter.</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br>
              <a:rPr lang="en-US" sz="1500">
                <a:solidFill>
                  <a:srgbClr val="1A1A1A"/>
                </a:solidFill>
                <a:highlight>
                  <a:srgbClr val="F7F7F5"/>
                </a:highlight>
              </a:rPr>
            </a:br>
            <a:br>
              <a:rPr lang="en-US" sz="1500">
                <a:solidFill>
                  <a:srgbClr val="1A1A1A"/>
                </a:solidFill>
                <a:highlight>
                  <a:srgbClr val="F7F7F5"/>
                </a:highlight>
              </a:rPr>
            </a:br>
            <a:r>
              <a:rPr b="1" lang="en-US" sz="1500">
                <a:solidFill>
                  <a:srgbClr val="1A1A1A"/>
                </a:solidFill>
              </a:rPr>
              <a:t>Loss:</a:t>
            </a:r>
            <a:r>
              <a:rPr lang="en-US" sz="1500">
                <a:solidFill>
                  <a:srgbClr val="1A1A1A"/>
                </a:solidFill>
                <a:highlight>
                  <a:srgbClr val="F7F7F5"/>
                </a:highlight>
              </a:rPr>
              <a:t> Expected Displacement Loss (EDL) — </a:t>
            </a:r>
            <a:r>
              <a:rPr lang="en-US" sz="1400">
                <a:solidFill>
                  <a:srgbClr val="1A1A1A"/>
                </a:solidFill>
                <a:highlight>
                  <a:srgbClr val="EEEEEE"/>
                </a:highlight>
                <a:latin typeface="Courier New"/>
                <a:ea typeface="Courier New"/>
                <a:cs typeface="Courier New"/>
                <a:sym typeface="Courier New"/>
              </a:rPr>
              <a:t>loss = |E[t·p(t)] - t_gt|</a:t>
            </a:r>
            <a:endParaRPr sz="1400">
              <a:solidFill>
                <a:srgbClr val="1A1A1A"/>
              </a:solidFill>
              <a:highlight>
                <a:srgbClr val="EEEEEE"/>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sz="1500">
                <a:solidFill>
                  <a:srgbClr val="1A1A1A"/>
                </a:solidFill>
              </a:rPr>
              <a:t>Backbone:</a:t>
            </a:r>
            <a:r>
              <a:rPr lang="en-US" sz="1500">
                <a:solidFill>
                  <a:srgbClr val="1A1A1A"/>
                </a:solidFill>
                <a:highlight>
                  <a:srgbClr val="F7F7F5"/>
                </a:highlight>
              </a:rPr>
              <a:t> ViT-B-16, frozen, D=768 (note: CLI flag is </a:t>
            </a:r>
            <a:r>
              <a:rPr lang="en-US" sz="1400">
                <a:solidFill>
                  <a:srgbClr val="1A1A1A"/>
                </a:solidFill>
                <a:highlight>
                  <a:srgbClr val="EEEEEE"/>
                </a:highlight>
                <a:latin typeface="Courier New"/>
                <a:ea typeface="Courier New"/>
                <a:cs typeface="Courier New"/>
                <a:sym typeface="Courier New"/>
              </a:rPr>
              <a:t>--backbone=vit_small</a:t>
            </a:r>
            <a:r>
              <a:rPr lang="en-US" sz="1500">
                <a:solidFill>
                  <a:srgbClr val="1A1A1A"/>
                </a:solidFill>
                <a:highlight>
                  <a:srgbClr val="F7F7F5"/>
                </a:highlight>
              </a:rPr>
              <a:t> but loads </a:t>
            </a:r>
            <a:r>
              <a:rPr lang="en-US" sz="1400">
                <a:solidFill>
                  <a:srgbClr val="1A1A1A"/>
                </a:solidFill>
                <a:highlight>
                  <a:srgbClr val="EEEEEE"/>
                </a:highlight>
                <a:latin typeface="Courier New"/>
                <a:ea typeface="Courier New"/>
                <a:cs typeface="Courier New"/>
                <a:sym typeface="Courier New"/>
              </a:rPr>
              <a:t>vit_b_16</a:t>
            </a:r>
            <a:r>
              <a:rPr lang="en-US" sz="1500">
                <a:solidFill>
                  <a:srgbClr val="1A1A1A"/>
                </a:solidFill>
                <a:highlight>
                  <a:srgbClr val="F7F7F5"/>
                </a:highlight>
              </a:rPr>
              <a:t>)</a:t>
            </a:r>
            <a:endParaRPr sz="1500">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sz="1500">
                <a:solidFill>
                  <a:srgbClr val="1A1A1A"/>
                </a:solidFill>
              </a:rPr>
              <a:t>Features:</a:t>
            </a:r>
            <a:r>
              <a:rPr lang="en-US" sz="1500">
                <a:solidFill>
                  <a:srgbClr val="1A1A1A"/>
                </a:solidFill>
                <a:highlight>
                  <a:srgbClr val="F7F7F5"/>
                </a:highlight>
              </a:rPr>
              <a:t> pre-extracted per-frame crops → 768-dim CLS token</a:t>
            </a:r>
            <a:endParaRPr sz="1500">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sz="1500">
                <a:solidFill>
                  <a:srgbClr val="1A1A1A"/>
                </a:solidFill>
              </a:rPr>
              <a:t>Window:</a:t>
            </a:r>
            <a:r>
              <a:rPr lang="en-US" sz="1500">
                <a:solidFill>
                  <a:srgbClr val="1A1A1A"/>
                </a:solidFill>
                <a:highlight>
                  <a:srgbClr val="F7F7F5"/>
                </a:highlight>
              </a:rPr>
              <a:t> T_max=32, HIT_MARGIN=6, MIN_LEN=12</a:t>
            </a:r>
            <a:endParaRPr sz="1500">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sz="1500">
                <a:solidFill>
                  <a:srgbClr val="1A1A1A"/>
                </a:solidFill>
              </a:rPr>
              <a:t>Training:</a:t>
            </a:r>
            <a:r>
              <a:rPr lang="en-US" sz="1500">
                <a:solidFill>
                  <a:srgbClr val="1A1A1A"/>
                </a:solidFill>
                <a:highlight>
                  <a:srgbClr val="F7F7F5"/>
                </a:highlight>
              </a:rPr>
              <a:t> lr=1e-3, batch=256, epochs=30, CosineAnnealingLR(→1e-5), grad clip max_norm=1.0</a:t>
            </a:r>
            <a:endParaRPr sz="1500">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sz="1500">
                <a:solidFill>
                  <a:srgbClr val="1A1A1A"/>
                </a:solidFill>
              </a:rPr>
              <a:t>Val eval:</a:t>
            </a:r>
            <a:r>
              <a:rPr lang="en-US" sz="1500">
                <a:solidFill>
                  <a:srgbClr val="1A1A1A"/>
                </a:solidFill>
                <a:highlight>
                  <a:srgbClr val="F7F7F5"/>
                </a:highlight>
              </a:rPr>
              <a:t> Gaussian smooth σ=1.5 on logits before argmax</a:t>
            </a:r>
            <a:endParaRPr sz="1500">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sz="1500">
                <a:solidFill>
                  <a:srgbClr val="1A1A1A"/>
                </a:solidFill>
              </a:rPr>
              <a:t>Val size:</a:t>
            </a:r>
            <a:r>
              <a:rPr lang="en-US" sz="1500">
                <a:solidFill>
                  <a:srgbClr val="1A1A1A"/>
                </a:solidFill>
                <a:highlight>
                  <a:srgbClr val="F7F7F5"/>
                </a:highlight>
              </a:rPr>
              <a:t> 58 samples (27 clips, 178 hits, ~20% held out)</a:t>
            </a:r>
            <a:endParaRPr sz="1500">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sz="1500">
                <a:solidFill>
                  <a:srgbClr val="1A1A1A"/>
                </a:solidFill>
              </a:rPr>
              <a:t>GPU:</a:t>
            </a:r>
            <a:r>
              <a:rPr lang="en-US" sz="1500">
                <a:solidFill>
                  <a:srgbClr val="1A1A1A"/>
                </a:solidFill>
                <a:highlight>
                  <a:srgbClr val="F7F7F5"/>
                </a:highlight>
              </a:rPr>
              <a:t> NVIDIA H100 80GB HBM3 · ~1-2 sec/epoch</a:t>
            </a:r>
            <a:endParaRPr sz="1500">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sz="1500">
                <a:solidFill>
                  <a:srgbClr val="1A1A1A"/>
                </a:solidFill>
              </a:rPr>
              <a:t>BiLSTM config:</a:t>
            </a:r>
            <a:r>
              <a:rPr lang="en-US" sz="1500">
                <a:solidFill>
                  <a:srgbClr val="1A1A1A"/>
                </a:solidFill>
                <a:highlight>
                  <a:srgbClr val="F7F7F5"/>
                </a:highlight>
              </a:rPr>
              <a:t> hidden=128, layers=2, bidirectional, </a:t>
            </a:r>
            <a:r>
              <a:rPr b="1" lang="en-US" sz="1500">
                <a:solidFill>
                  <a:srgbClr val="1A1A1A"/>
                </a:solidFill>
              </a:rPr>
              <a:t>dropout=0.3</a:t>
            </a:r>
            <a:r>
              <a:rPr lang="en-US" sz="1500">
                <a:solidFill>
                  <a:srgbClr val="1A1A1A"/>
                </a:solidFill>
                <a:highlight>
                  <a:srgbClr val="F7F7F5"/>
                </a:highlight>
              </a:rPr>
              <a:t>, params=1,119,105</a:t>
            </a:r>
            <a:endParaRPr sz="1500">
              <a:solidFill>
                <a:srgbClr val="1A1A1A"/>
              </a:solidFill>
              <a:highlight>
                <a:srgbClr val="F7F7F5"/>
              </a:highlight>
            </a:endParaRPr>
          </a:p>
          <a:p>
            <a:pPr indent="0" lvl="0" marL="0" rtl="0" algn="l">
              <a:spcBef>
                <a:spcPts val="0"/>
              </a:spcBef>
              <a:spcAft>
                <a:spcPts val="0"/>
              </a:spcAft>
              <a:buClr>
                <a:schemeClr val="dk1"/>
              </a:buClr>
              <a:buSzPts val="1400"/>
              <a:buFont typeface="Arial"/>
              <a:buNone/>
            </a:pPr>
            <a:r>
              <a:rPr b="1" lang="en-US" sz="1500">
                <a:solidFill>
                  <a:srgbClr val="1A1A1A"/>
                </a:solidFill>
              </a:rPr>
              <a:t>Mamba2 config:</a:t>
            </a:r>
            <a:r>
              <a:rPr lang="en-US" sz="1500">
                <a:solidFill>
                  <a:srgbClr val="1A1A1A"/>
                </a:solidFill>
                <a:highlight>
                  <a:srgbClr val="F7F7F5"/>
                </a:highlight>
              </a:rPr>
              <a:t> d_model=256, d_state=64, d_conv=4, expand=2, headdim=64, layers=2, params=1,388,849</a:t>
            </a:r>
            <a:endParaRPr sz="1500">
              <a:solidFill>
                <a:srgbClr val="1A1A1A"/>
              </a:solidFill>
              <a:highlight>
                <a:srgbClr val="F7F7F5"/>
              </a:highlight>
            </a:endParaRPr>
          </a:p>
          <a:p>
            <a:pPr indent="0" lvl="0" marL="0" rtl="0" algn="l">
              <a:spcBef>
                <a:spcPts val="0"/>
              </a:spcBef>
              <a:spcAft>
                <a:spcPts val="0"/>
              </a:spcAft>
              <a:buClr>
                <a:schemeClr val="dk1"/>
              </a:buClr>
              <a:buSzPts val="1400"/>
              <a:buFont typeface="Arial"/>
              <a:buNone/>
            </a:pPr>
            <a:r>
              <a:t/>
            </a:r>
            <a:endParaRPr sz="1500">
              <a:solidFill>
                <a:srgbClr val="1A1A1A"/>
              </a:solidFill>
              <a:highlight>
                <a:srgbClr val="F7F7F5"/>
              </a:highlight>
            </a:endParaRPr>
          </a:p>
          <a:p>
            <a:pPr indent="0" lvl="0" marL="0" rtl="0" algn="l">
              <a:spcBef>
                <a:spcPts val="0"/>
              </a:spcBef>
              <a:spcAft>
                <a:spcPts val="0"/>
              </a:spcAft>
              <a:buClr>
                <a:schemeClr val="dk1"/>
              </a:buClr>
              <a:buSzPts val="1400"/>
              <a:buFont typeface="Arial"/>
              <a:buNone/>
            </a:pPr>
            <a:r>
              <a:rPr b="1" lang="en-US" sz="1500">
                <a:solidFill>
                  <a:srgbClr val="1A1A1A"/>
                </a:solidFill>
              </a:rPr>
              <a:t>Key finding:</a:t>
            </a:r>
            <a:r>
              <a:rPr lang="en-US" sz="1500">
                <a:solidFill>
                  <a:srgbClr val="1A1A1A"/>
                </a:solidFill>
                <a:highlight>
                  <a:srgbClr val="F7F7F5"/>
                </a:highlight>
              </a:rPr>
              <a:t> BiLSTM (red) reaches train_loss = 0.0004 by epoch 29 — effectively memorizing the training set. Val Acc@1 peaks at epoch 2 (41.4%) and never recovers, ending at 48.3%. Mamba2 (green) stabilizes at train_loss ≈ 0.065 and achieves val Acc@1 = 58.6% at epoch 3. The gap is structural: Mamba2's conv1d local mixing enforces temporal smoothing that prevents the probability mass from collapsing to a single frame under EDL's sharp distance-proportional gradient.</a:t>
            </a:r>
            <a:br>
              <a:rPr lang="en-US" sz="1500">
                <a:solidFill>
                  <a:srgbClr val="1A1A1A"/>
                </a:solidFill>
                <a:highlight>
                  <a:srgbClr val="F7F7F5"/>
                </a:highlight>
              </a:rPr>
            </a:br>
            <a:endParaRPr sz="1500">
              <a:solidFill>
                <a:srgbClr val="1A1A1A"/>
              </a:solidFill>
              <a:highlight>
                <a:srgbClr val="F7F7F5"/>
              </a:highlight>
            </a:endParaRPr>
          </a:p>
        </p:txBody>
      </p:sp>
      <p:sp>
        <p:nvSpPr>
          <p:cNvPr id="374" name="Google Shape;374;g3d0d24bea63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d0d24bea63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a:solidFill>
                  <a:srgbClr val="1A1A1A"/>
                </a:solidFill>
              </a:rPr>
              <a:t>Task:</a:t>
            </a:r>
            <a:r>
              <a:rPr lang="en-US">
                <a:solidFill>
                  <a:srgbClr val="1A1A1A"/>
                </a:solidFill>
                <a:highlight>
                  <a:srgbClr val="F7F7F5"/>
                </a:highlight>
              </a:rPr>
              <a:t> Given a T=32 frame window known to contain one tennis hit, predict the exact hit frame index.</a:t>
            </a:r>
            <a:endParaRPr>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a:solidFill>
                  <a:srgbClr val="1A1A1A"/>
                </a:solidFill>
              </a:rPr>
              <a:t>Backbone:</a:t>
            </a:r>
            <a:r>
              <a:rPr lang="en-US">
                <a:solidFill>
                  <a:srgbClr val="1A1A1A"/>
                </a:solidFill>
                <a:highlight>
                  <a:srgbClr val="F7F7F5"/>
                </a:highlight>
              </a:rPr>
              <a:t> ViT-B-16 (86M params, frozen) — CLI flag is </a:t>
            </a:r>
            <a:r>
              <a:rPr lang="en-US" sz="1100">
                <a:solidFill>
                  <a:srgbClr val="1A1A1A"/>
                </a:solidFill>
                <a:highlight>
                  <a:srgbClr val="EEEEEE"/>
                </a:highlight>
                <a:latin typeface="Courier New"/>
                <a:ea typeface="Courier New"/>
                <a:cs typeface="Courier New"/>
                <a:sym typeface="Courier New"/>
              </a:rPr>
              <a:t>--backbone=vit_small</a:t>
            </a:r>
            <a:r>
              <a:rPr lang="en-US">
                <a:solidFill>
                  <a:srgbClr val="1A1A1A"/>
                </a:solidFill>
                <a:highlight>
                  <a:srgbClr val="F7F7F5"/>
                </a:highlight>
              </a:rPr>
              <a:t> but loads </a:t>
            </a:r>
            <a:r>
              <a:rPr lang="en-US" sz="1100">
                <a:solidFill>
                  <a:srgbClr val="1A1A1A"/>
                </a:solidFill>
                <a:highlight>
                  <a:srgbClr val="EEEEEE"/>
                </a:highlight>
                <a:latin typeface="Courier New"/>
                <a:ea typeface="Courier New"/>
                <a:cs typeface="Courier New"/>
                <a:sym typeface="Courier New"/>
              </a:rPr>
              <a:t>vit_b_16</a:t>
            </a:r>
            <a:r>
              <a:rPr lang="en-US">
                <a:solidFill>
                  <a:srgbClr val="1A1A1A"/>
                </a:solidFill>
                <a:highlight>
                  <a:srgbClr val="F7F7F5"/>
                </a:highlight>
              </a:rPr>
              <a:t>. D=768.</a:t>
            </a:r>
            <a:endParaRPr>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a:solidFill>
                  <a:srgbClr val="1A1A1A"/>
                </a:solidFill>
              </a:rPr>
              <a:t>Features:</a:t>
            </a:r>
            <a:r>
              <a:rPr lang="en-US">
                <a:solidFill>
                  <a:srgbClr val="1A1A1A"/>
                </a:solidFill>
                <a:highlight>
                  <a:srgbClr val="F7F7F5"/>
                </a:highlight>
              </a:rPr>
              <a:t> pre-extracted per-frame player crops → CLS token → 768-dim vectors cached on RAM.</a:t>
            </a:r>
            <a:endParaRPr>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a:solidFill>
                  <a:srgbClr val="1A1A1A"/>
                </a:solidFill>
              </a:rPr>
              <a:t>Pipeline:</a:t>
            </a:r>
            <a:r>
              <a:rPr lang="en-US">
                <a:solidFill>
                  <a:srgbClr val="1A1A1A"/>
                </a:solidFill>
                <a:highlight>
                  <a:srgbClr val="F7F7F5"/>
                </a:highlight>
              </a:rPr>
              <a:t> feat_proj (768→512) → temporal head → Linear(→1) → logits [B,T] → EDL loss</a:t>
            </a:r>
            <a:endParaRPr>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a:solidFill>
                  <a:srgbClr val="1A1A1A"/>
                </a:solidFill>
              </a:rPr>
              <a:t>Loss:</a:t>
            </a:r>
            <a:r>
              <a:rPr lang="en-US">
                <a:solidFill>
                  <a:srgbClr val="1A1A1A"/>
                </a:solidFill>
                <a:highlight>
                  <a:srgbClr val="F7F7F5"/>
                </a:highlight>
              </a:rPr>
              <a:t> Expected Displacement Loss (EDL): </a:t>
            </a:r>
            <a:r>
              <a:rPr lang="en-US" sz="1100">
                <a:solidFill>
                  <a:srgbClr val="1A1A1A"/>
                </a:solidFill>
                <a:highlight>
                  <a:srgbClr val="EEEEEE"/>
                </a:highlight>
                <a:latin typeface="Courier New"/>
                <a:ea typeface="Courier New"/>
                <a:cs typeface="Courier New"/>
                <a:sym typeface="Courier New"/>
              </a:rPr>
              <a:t>loss = mean(|Σ t·softmax(logits) - t_gt|)</a:t>
            </a:r>
            <a:endParaRPr sz="1100">
              <a:solidFill>
                <a:srgbClr val="1A1A1A"/>
              </a:solidFill>
              <a:highlight>
                <a:srgbClr val="EEEEEE"/>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US">
                <a:solidFill>
                  <a:srgbClr val="1A1A1A"/>
                </a:solidFill>
              </a:rPr>
              <a:t>Training:</a:t>
            </a:r>
            <a:r>
              <a:rPr lang="en-US">
                <a:solidFill>
                  <a:srgbClr val="1A1A1A"/>
                </a:solidFill>
                <a:highlight>
                  <a:srgbClr val="F7F7F5"/>
                </a:highlight>
              </a:rPr>
              <a:t> AdamW lr=1e-3, weight_decay=1e-4, batch=256, epochs=30, CosineAnnealingLR(→1e-5), grad clip max_norm=1.0</a:t>
            </a:r>
            <a:endParaRPr>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a:solidFill>
                  <a:srgbClr val="1A1A1A"/>
                </a:solidFill>
              </a:rPr>
              <a:t>Data:</a:t>
            </a:r>
            <a:r>
              <a:rPr lang="en-US">
                <a:solidFill>
                  <a:srgbClr val="1A1A1A"/>
                </a:solidFill>
                <a:highlight>
                  <a:srgbClr val="F7F7F5"/>
                </a:highlight>
              </a:rPr>
              <a:t> 27 clips / 178 hits · HIT_MARGIN=6 · MIN_LEN=12 · train ~5800 samples / val 58 samples (80/20 clip split)</a:t>
            </a:r>
            <a:endParaRPr>
              <a:solidFill>
                <a:srgbClr val="1A1A1A"/>
              </a:solidFill>
              <a:highlight>
                <a:srgbClr val="F7F7F5"/>
              </a:highlight>
            </a:endParaRPr>
          </a:p>
          <a:p>
            <a:pPr indent="0" lvl="0" marL="0" rtl="0" algn="l">
              <a:spcBef>
                <a:spcPts val="0"/>
              </a:spcBef>
              <a:spcAft>
                <a:spcPts val="0"/>
              </a:spcAft>
              <a:buClr>
                <a:schemeClr val="dk1"/>
              </a:buClr>
              <a:buSzPts val="1100"/>
              <a:buFont typeface="Arial"/>
              <a:buNone/>
            </a:pPr>
            <a:r>
              <a:rPr b="1" lang="en-US">
                <a:solidFill>
                  <a:srgbClr val="1A1A1A"/>
                </a:solidFill>
              </a:rPr>
              <a:t>Eval:</a:t>
            </a:r>
            <a:r>
              <a:rPr lang="en-US">
                <a:solidFill>
                  <a:srgbClr val="1A1A1A"/>
                </a:solidFill>
                <a:highlight>
                  <a:srgbClr val="F7F7F5"/>
                </a:highlight>
              </a:rPr>
              <a:t> Gaussian smooth σ=1.5 on logits before argmax · best checkpoint = highest val Acc@1</a:t>
            </a:r>
            <a:endParaRPr>
              <a:solidFill>
                <a:srgbClr val="1A1A1A"/>
              </a:solidFill>
              <a:highlight>
                <a:srgbClr val="F7F7F5"/>
              </a:highlight>
            </a:endParaRPr>
          </a:p>
          <a:p>
            <a:pPr indent="0" lvl="0" marL="0" rtl="0" algn="l">
              <a:lnSpc>
                <a:spcPct val="100000"/>
              </a:lnSpc>
              <a:spcBef>
                <a:spcPts val="0"/>
              </a:spcBef>
              <a:spcAft>
                <a:spcPts val="0"/>
              </a:spcAft>
              <a:buSzPts val="1400"/>
              <a:buNone/>
            </a:pPr>
            <a:r>
              <a:rPr b="1" lang="en-US">
                <a:solidFill>
                  <a:srgbClr val="1A1A1A"/>
                </a:solidFill>
              </a:rPr>
              <a:t>GPU:</a:t>
            </a:r>
            <a:r>
              <a:rPr lang="en-US">
                <a:solidFill>
                  <a:srgbClr val="1A1A1A"/>
                </a:solidFill>
                <a:highlight>
                  <a:srgbClr val="F7F7F5"/>
                </a:highlight>
              </a:rPr>
              <a:t> NVIDIA H100 80GB HBM3 · ~1–2 sec/epoch (feature mode, no backbone forward)</a:t>
            </a:r>
            <a:endParaRPr>
              <a:solidFill>
                <a:srgbClr val="1A1A1A"/>
              </a:solidFill>
              <a:highlight>
                <a:srgbClr val="F7F7F5"/>
              </a:highlight>
            </a:endParaRPr>
          </a:p>
          <a:p>
            <a:pPr indent="0" lvl="0" marL="0" rtl="0" algn="l">
              <a:lnSpc>
                <a:spcPct val="115000"/>
              </a:lnSpc>
              <a:spcBef>
                <a:spcPts val="1800"/>
              </a:spcBef>
              <a:spcAft>
                <a:spcPts val="0"/>
              </a:spcAft>
              <a:buSzPts val="1100"/>
              <a:buNone/>
            </a:pPr>
            <a:r>
              <a:rPr b="1" lang="en-US" sz="1700"/>
              <a:t>Slide 8 — Results (T=32)</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Mamba2 matches Transformer Acc@1 — 58.6% vs 62.1%, within noise — at 5× fewer parameters. And Mamba2's MAE is better: 2.97 vs 3.88. When Transformer is wrong, it's more wrong. BiMamba2 has the tightest error distribution of all five heads.</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Val n=58 → binomial CI ±6.4pp. The 3.5pp gap between Mamba2 and Transformer is not statistically distinguishable at this sample size. The honest claim is "we cannot separate them" not "they are equal." MAE is a more reliable metric here (continuous mean, lower variance) — BiMamba2's 2.97 vs Transformer's 3.88 is a 0.91-frame difference on a 32-frame window, practically significant. Transformer's "all-or-nothing" attention pattern explains the MAE discrepancy: when attention fires correctly it's very precise; when it misfires it lands far off.</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400"/>
              <a:buNone/>
            </a:pPr>
            <a:r>
              <a:t/>
            </a:r>
            <a:endParaRPr sz="1250">
              <a:solidFill>
                <a:srgbClr val="333333"/>
              </a:solidFill>
              <a:highlight>
                <a:srgbClr val="FFFFFF"/>
              </a:highlight>
            </a:endParaRPr>
          </a:p>
        </p:txBody>
      </p:sp>
      <p:sp>
        <p:nvSpPr>
          <p:cNvPr id="380" name="Google Shape;380;g3d0d24bea63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d0d24bea63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d0d24bea63_0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9 — Window Robustness</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We tested three window sizes. Transformer is best at T=16 where attention is most focused, but drops 8.6pp by T=64. BiLSTM recovers at T=16 — cleaner windows — but degrades as the window grows and neighboring hit frames contaminate its state. BiMamba2 holds exactly 58.6% across all three. That's not a coincidence.</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Why BiMamba2 is window-invariant: the forward scan sees the hit from the left, the backward scan sees it from the right. Wherever the hit falls in the window, one direction always has a clean lead-in. Mamba2 (causal only) peaks at T=32 then drops to 51.7% at T=64 — the forward scan accumulates state drift from contaminating frames before it reaches the hit. This result directly motivates BiMamba2 as the temporal head for end-to-end inference, where context length around each hit is not fixed.</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spcBef>
                <a:spcPts val="0"/>
              </a:spcBef>
              <a:spcAft>
                <a:spcPts val="0"/>
              </a:spcAft>
              <a:buNone/>
            </a:pPr>
            <a:r>
              <a:t/>
            </a:r>
            <a:endParaRPr/>
          </a:p>
        </p:txBody>
      </p:sp>
      <p:sp>
        <p:nvSpPr>
          <p:cNvPr id="387" name="Google Shape;387;g3d0d24bea63_0_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d0d24bea63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d0d24bea63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10 — Key Finding</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Three things. One: BiMamba2 reaches Transformer accuracy at 3× fewer params, with better MAE. Two: it's the only head that doesn't degrade across window sizes — structural robustness from bidirectional scan. Three: swapping the loss function changes the winner. BiLSTM leads under Gaussian CE, collapses under EDL. The architecture you choose matters less than you think — the training signal exposes what each architecture actually does.</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Finding 3 is the most surprising and the most scientifically interesting. BiLSTM under Gaussian CE: 58.6% (best). BiLSTM under EDL: 48.3% (collapses). Same model, same data, same optimizer — only loss changed. This means any benchmark comparing temporal architectures on frame detection tasks is confounded by loss design. A fair comparison requires specifying the loss explicitly. EDL is the more principled choice for localization tasks because it encodes distance information.</a:t>
            </a:r>
            <a:endParaRPr sz="1100"/>
          </a:p>
          <a:p>
            <a:pPr indent="0" lvl="0" marL="0" rtl="0" algn="l">
              <a:spcBef>
                <a:spcPts val="1200"/>
              </a:spcBef>
              <a:spcAft>
                <a:spcPts val="0"/>
              </a:spcAft>
              <a:buNone/>
            </a:pPr>
            <a:r>
              <a:t/>
            </a:r>
            <a:endParaRPr/>
          </a:p>
        </p:txBody>
      </p:sp>
      <p:sp>
        <p:nvSpPr>
          <p:cNvPr id="394" name="Google Shape;394;g3d0d24bea63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0d24bea63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d0d24bea63_0_1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g3d0d24bea63_0_1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c88880a09f_0_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c88880a09f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11 — Future Work</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Top half is done — dataset, backbone, ablation, loss. Next two steps: multi-hit inference on full clips, then close the loop from raw video to hit timestamps. That's where SSM's O(T) stops being a nice property and becomes a hard requirement.</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1200"/>
              </a:spcAft>
              <a:buSzPts val="1100"/>
              <a:buNone/>
            </a:pPr>
            <a:r>
              <a:rPr lang="en-US" sz="1100"/>
              <a:t>Multi-hit inference requires: (1) multi-peak label — sum of Gaussians centered at each hit, normalized; (2) inference-time peak detection — </a:t>
            </a:r>
            <a:r>
              <a:rPr lang="en-US" sz="1100">
                <a:solidFill>
                  <a:srgbClr val="188038"/>
                </a:solidFill>
                <a:latin typeface="Roboto Mono"/>
                <a:ea typeface="Roboto Mono"/>
                <a:cs typeface="Roboto Mono"/>
                <a:sym typeface="Roboto Mono"/>
              </a:rPr>
              <a:t>scipy.signal.find_peaks</a:t>
            </a:r>
            <a:r>
              <a:rPr lang="en-US" sz="1100"/>
              <a:t> on logit curve with </a:t>
            </a:r>
            <a:r>
              <a:rPr lang="en-US" sz="1100">
                <a:solidFill>
                  <a:srgbClr val="188038"/>
                </a:solidFill>
                <a:latin typeface="Roboto Mono"/>
                <a:ea typeface="Roboto Mono"/>
                <a:cs typeface="Roboto Mono"/>
                <a:sym typeface="Roboto Mono"/>
              </a:rPr>
              <a:t>distance=HIT_MARGIN</a:t>
            </a:r>
            <a:r>
              <a:rPr lang="en-US" sz="1100"/>
              <a:t>, </a:t>
            </a:r>
            <a:r>
              <a:rPr lang="en-US" sz="1100">
                <a:solidFill>
                  <a:srgbClr val="188038"/>
                </a:solidFill>
                <a:latin typeface="Roboto Mono"/>
                <a:ea typeface="Roboto Mono"/>
                <a:cs typeface="Roboto Mono"/>
                <a:sym typeface="Roboto Mono"/>
              </a:rPr>
              <a:t>height=threshold</a:t>
            </a:r>
            <a:r>
              <a:rPr lang="en-US" sz="1100"/>
              <a:t>; (3) new eval — precision/recall matching predicted peaks to GT hits within ±2 frames. BiMamba2's recurrent state handles multi-peak outputs naturally; it makes no unimodal assumption. Efficiency benchmark at T=512+: Transformer attention is 262,144 pairs per layer — this is where O(T) vs O(T²) becomes empirically testable, not just theoretical. Comparison target: ASFormer (ICCV 2021), currently SOTA for temporal action segmentation on long sequences.</a:t>
            </a:r>
            <a:endParaRPr/>
          </a:p>
        </p:txBody>
      </p:sp>
      <p:sp>
        <p:nvSpPr>
          <p:cNvPr id="408" name="Google Shape;408;g3c88880a09f_0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0d24bea63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d0d24bea63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250">
              <a:solidFill>
                <a:srgbClr val="333333"/>
              </a:solidFill>
              <a:highlight>
                <a:srgbClr val="FFFFFF"/>
              </a:highlight>
            </a:endParaRPr>
          </a:p>
        </p:txBody>
      </p:sp>
      <p:sp>
        <p:nvSpPr>
          <p:cNvPr id="415" name="Google Shape;415;g3d0d24bea63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t>Slide 13 — Thank you</a:t>
            </a:r>
            <a:endParaRPr b="1" sz="1700"/>
          </a:p>
          <a:p>
            <a:pPr indent="0" lvl="0" marL="0" rtl="0" algn="l">
              <a:lnSpc>
                <a:spcPct val="115000"/>
              </a:lnSpc>
              <a:spcBef>
                <a:spcPts val="1200"/>
              </a:spcBef>
              <a:spcAft>
                <a:spcPts val="0"/>
              </a:spcAft>
              <a:buClr>
                <a:schemeClr val="dk1"/>
              </a:buClr>
              <a:buSzPts val="1100"/>
              <a:buFont typeface="Arial"/>
              <a:buNone/>
            </a:pPr>
            <a:r>
              <a:rPr b="1" lang="en-US" sz="1100"/>
              <a:t>Speaker note</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Happy to take questions on the ablation design, the loss function choice, or the architectural tradeoffs.</a:t>
            </a:r>
            <a:endParaRPr sz="1100"/>
          </a:p>
          <a:p>
            <a:pPr indent="0" lvl="0" marL="0" rtl="0" algn="l">
              <a:lnSpc>
                <a:spcPct val="115000"/>
              </a:lnSpc>
              <a:spcBef>
                <a:spcPts val="1200"/>
              </a:spcBef>
              <a:spcAft>
                <a:spcPts val="0"/>
              </a:spcAft>
              <a:buClr>
                <a:schemeClr val="dk1"/>
              </a:buClr>
              <a:buSzPts val="1100"/>
              <a:buFont typeface="Arial"/>
              <a:buNone/>
            </a:pPr>
            <a:r>
              <a:rPr b="1" lang="en-US" sz="1100"/>
              <a:t>Extra info</a:t>
            </a:r>
            <a:endParaRPr b="1" sz="1100"/>
          </a:p>
          <a:p>
            <a:pPr indent="0" lvl="0" marL="381000" marR="381000" rtl="0" algn="l">
              <a:lnSpc>
                <a:spcPct val="115000"/>
              </a:lnSpc>
              <a:spcBef>
                <a:spcPts val="1200"/>
              </a:spcBef>
              <a:spcAft>
                <a:spcPts val="0"/>
              </a:spcAft>
              <a:buClr>
                <a:schemeClr val="dk1"/>
              </a:buClr>
              <a:buSzPts val="1100"/>
              <a:buFont typeface="Arial"/>
              <a:buNone/>
            </a:pPr>
            <a:r>
              <a:rPr lang="en-US" sz="1100"/>
              <a:t>Code and data available on request. Annotation toolchain is fully functional and can be extended to other racket sports. Next experiment (multi-hit full-clip inference) can start immediately — all infrastructure is in place.</a:t>
            </a:r>
            <a:endParaRPr sz="1100"/>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400"/>
              <a:buNone/>
            </a:pPr>
            <a:r>
              <a:t/>
            </a:r>
            <a:endParaRPr/>
          </a:p>
        </p:txBody>
      </p:sp>
      <p:sp>
        <p:nvSpPr>
          <p:cNvPr id="420" name="Google Shape;42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type="title">
  <p:cSld name="TITLE">
    <p:spTree>
      <p:nvGrpSpPr>
        <p:cNvPr id="15" name="Shape 15"/>
        <p:cNvGrpSpPr/>
        <p:nvPr/>
      </p:nvGrpSpPr>
      <p:grpSpPr>
        <a:xfrm>
          <a:off x="0" y="0"/>
          <a:ext cx="0" cy="0"/>
          <a:chOff x="0" y="0"/>
          <a:chExt cx="0" cy="0"/>
        </a:xfrm>
      </p:grpSpPr>
      <p:sp>
        <p:nvSpPr>
          <p:cNvPr id="16" name="Google Shape;16;p53"/>
          <p:cNvSpPr txBox="1"/>
          <p:nvPr>
            <p:ph type="ctrTitle"/>
          </p:nvPr>
        </p:nvSpPr>
        <p:spPr>
          <a:xfrm>
            <a:off x="914162" y="2977163"/>
            <a:ext cx="10360501" cy="1083277"/>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DC4400"/>
              </a:buClr>
              <a:buSzPts val="4800"/>
              <a:buFont typeface="Impact"/>
              <a:buNone/>
              <a:defRPr b="1" i="0" sz="4800">
                <a:solidFill>
                  <a:srgbClr val="DC4400"/>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3"/>
          <p:cNvSpPr txBox="1"/>
          <p:nvPr>
            <p:ph idx="1" type="subTitle"/>
          </p:nvPr>
        </p:nvSpPr>
        <p:spPr>
          <a:xfrm>
            <a:off x="1828324" y="4079676"/>
            <a:ext cx="8532178" cy="1327821"/>
          </a:xfrm>
          <a:prstGeom prst="rect">
            <a:avLst/>
          </a:prstGeom>
          <a:noFill/>
          <a:ln>
            <a:noFill/>
          </a:ln>
        </p:spPr>
        <p:txBody>
          <a:bodyPr anchorCtr="0" anchor="t" bIns="45700" lIns="91425" spcFirstLastPara="1" rIns="91425" wrap="square" tIns="45700">
            <a:normAutofit/>
          </a:bodyPr>
          <a:lstStyle>
            <a:lvl1pPr lvl="0" algn="ctr">
              <a:lnSpc>
                <a:spcPct val="130000"/>
              </a:lnSpc>
              <a:spcBef>
                <a:spcPts val="480"/>
              </a:spcBef>
              <a:spcAft>
                <a:spcPts val="0"/>
              </a:spcAft>
              <a:buClr>
                <a:srgbClr val="DC4400"/>
              </a:buClr>
              <a:buSzPts val="2400"/>
              <a:buNone/>
              <a:defRPr sz="2400">
                <a:solidFill>
                  <a:srgbClr val="DC4400"/>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pic>
        <p:nvPicPr>
          <p:cNvPr id="18" name="Google Shape;18;p53"/>
          <p:cNvPicPr preferRelativeResize="0"/>
          <p:nvPr/>
        </p:nvPicPr>
        <p:blipFill rotWithShape="1">
          <a:blip r:embed="rId2">
            <a:alphaModFix/>
          </a:blip>
          <a:srcRect b="0" l="0" r="0" t="0"/>
          <a:stretch/>
        </p:blipFill>
        <p:spPr>
          <a:xfrm>
            <a:off x="5117916" y="467917"/>
            <a:ext cx="1952993" cy="2057399"/>
          </a:xfrm>
          <a:prstGeom prst="rect">
            <a:avLst/>
          </a:prstGeom>
          <a:noFill/>
          <a:ln>
            <a:noFill/>
          </a:ln>
        </p:spPr>
      </p:pic>
      <p:sp>
        <p:nvSpPr>
          <p:cNvPr id="19" name="Google Shape;19;p53"/>
          <p:cNvSpPr txBox="1"/>
          <p:nvPr/>
        </p:nvSpPr>
        <p:spPr>
          <a:xfrm>
            <a:off x="786201" y="6075181"/>
            <a:ext cx="10622361"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C4400"/>
                </a:solidFill>
                <a:latin typeface="Verdana"/>
                <a:ea typeface="Verdana"/>
                <a:cs typeface="Verdana"/>
                <a:sym typeface="Verdana"/>
              </a:rPr>
              <a:t>COLLEGE OF ENGINEERING</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aragraph - Luminance equals">
  <p:cSld name="Title &amp; Paragraph - Luminance equals">
    <p:spTree>
      <p:nvGrpSpPr>
        <p:cNvPr id="20" name="Shape 20"/>
        <p:cNvGrpSpPr/>
        <p:nvPr/>
      </p:nvGrpSpPr>
      <p:grpSpPr>
        <a:xfrm>
          <a:off x="0" y="0"/>
          <a:ext cx="0" cy="0"/>
          <a:chOff x="0" y="0"/>
          <a:chExt cx="0" cy="0"/>
        </a:xfrm>
      </p:grpSpPr>
      <p:sp>
        <p:nvSpPr>
          <p:cNvPr id="21" name="Google Shape;21;p58"/>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3000"/>
              <a:buNone/>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3" name="Google Shape;23;p58"/>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24" name="Google Shape;24;p58"/>
          <p:cNvPicPr preferRelativeResize="0"/>
          <p:nvPr/>
        </p:nvPicPr>
        <p:blipFill rotWithShape="1">
          <a:blip r:embed="rId3">
            <a:alphaModFix/>
          </a:blip>
          <a:srcRect b="45000" l="0" r="0" t="50000"/>
          <a:stretch/>
        </p:blipFill>
        <p:spPr>
          <a:xfrm>
            <a:off x="197324" y="6126165"/>
            <a:ext cx="11794176" cy="47239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aragraph - Seafoam equals">
  <p:cSld name="Title &amp; Paragraph - Seafoam equals">
    <p:spTree>
      <p:nvGrpSpPr>
        <p:cNvPr id="25" name="Shape 25"/>
        <p:cNvGrpSpPr/>
        <p:nvPr/>
      </p:nvGrpSpPr>
      <p:grpSpPr>
        <a:xfrm>
          <a:off x="0" y="0"/>
          <a:ext cx="0" cy="0"/>
          <a:chOff x="0" y="0"/>
          <a:chExt cx="0" cy="0"/>
        </a:xfrm>
      </p:grpSpPr>
      <p:sp>
        <p:nvSpPr>
          <p:cNvPr id="26" name="Google Shape;26;p59"/>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3000"/>
              <a:buNone/>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8" name="Google Shape;28;p59"/>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29" name="Google Shape;29;p59"/>
          <p:cNvPicPr preferRelativeResize="0"/>
          <p:nvPr/>
        </p:nvPicPr>
        <p:blipFill rotWithShape="1">
          <a:blip r:embed="rId3">
            <a:alphaModFix/>
          </a:blip>
          <a:srcRect b="45000" l="0" r="0" t="50000"/>
          <a:stretch/>
        </p:blipFill>
        <p:spPr>
          <a:xfrm>
            <a:off x="197324" y="6126165"/>
            <a:ext cx="11794176" cy="47239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p:cSld name="Quote ">
    <p:spTree>
      <p:nvGrpSpPr>
        <p:cNvPr id="30" name="Shape 30"/>
        <p:cNvGrpSpPr/>
        <p:nvPr/>
      </p:nvGrpSpPr>
      <p:grpSpPr>
        <a:xfrm>
          <a:off x="0" y="0"/>
          <a:ext cx="0" cy="0"/>
          <a:chOff x="0" y="0"/>
          <a:chExt cx="0" cy="0"/>
        </a:xfrm>
      </p:grpSpPr>
      <p:pic>
        <p:nvPicPr>
          <p:cNvPr descr="OSU_COE_horizontal_2C_O_over_B.eps" id="31" name="Google Shape;31;p101"/>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descr="A black and orange arrows&#10;&#10;Description automatically generated" id="32" name="Google Shape;32;p101"/>
          <p:cNvPicPr preferRelativeResize="0"/>
          <p:nvPr/>
        </p:nvPicPr>
        <p:blipFill rotWithShape="1">
          <a:blip r:embed="rId3">
            <a:alphaModFix/>
          </a:blip>
          <a:srcRect b="0" l="0" r="0" t="0"/>
          <a:stretch/>
        </p:blipFill>
        <p:spPr>
          <a:xfrm>
            <a:off x="10262055" y="4647868"/>
            <a:ext cx="1028700" cy="863600"/>
          </a:xfrm>
          <a:prstGeom prst="rect">
            <a:avLst/>
          </a:prstGeom>
          <a:noFill/>
          <a:ln>
            <a:noFill/>
          </a:ln>
        </p:spPr>
      </p:pic>
      <p:pic>
        <p:nvPicPr>
          <p:cNvPr descr="A black and orange arrows&#10;&#10;Description automatically generated" id="33" name="Google Shape;33;p101"/>
          <p:cNvPicPr preferRelativeResize="0"/>
          <p:nvPr/>
        </p:nvPicPr>
        <p:blipFill rotWithShape="1">
          <a:blip r:embed="rId3">
            <a:alphaModFix/>
          </a:blip>
          <a:srcRect b="0" l="0" r="0" t="0"/>
          <a:stretch/>
        </p:blipFill>
        <p:spPr>
          <a:xfrm rot="10800000">
            <a:off x="912979" y="1126997"/>
            <a:ext cx="1028700" cy="863600"/>
          </a:xfrm>
          <a:prstGeom prst="rect">
            <a:avLst/>
          </a:prstGeom>
          <a:noFill/>
          <a:ln>
            <a:noFill/>
          </a:ln>
        </p:spPr>
      </p:pic>
      <p:sp>
        <p:nvSpPr>
          <p:cNvPr id="34" name="Google Shape;34;p101"/>
          <p:cNvSpPr txBox="1"/>
          <p:nvPr>
            <p:ph idx="1" type="body"/>
          </p:nvPr>
        </p:nvSpPr>
        <p:spPr>
          <a:xfrm>
            <a:off x="2620743" y="1693485"/>
            <a:ext cx="6947338" cy="347103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800"/>
              </a:spcBef>
              <a:spcAft>
                <a:spcPts val="0"/>
              </a:spcAft>
              <a:buClr>
                <a:schemeClr val="dk1"/>
              </a:buClr>
              <a:buSzPts val="4000"/>
              <a:buNone/>
              <a:defRPr sz="4000">
                <a:latin typeface="Georgia"/>
                <a:ea typeface="Georgia"/>
                <a:cs typeface="Georgia"/>
                <a:sym typeface="Georgia"/>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 Slide 4">
    <p:spTree>
      <p:nvGrpSpPr>
        <p:cNvPr id="35" name="Shape 35"/>
        <p:cNvGrpSpPr/>
        <p:nvPr/>
      </p:nvGrpSpPr>
      <p:grpSpPr>
        <a:xfrm>
          <a:off x="0" y="0"/>
          <a:ext cx="0" cy="0"/>
          <a:chOff x="0" y="0"/>
          <a:chExt cx="0" cy="0"/>
        </a:xfrm>
      </p:grpSpPr>
      <p:pic>
        <p:nvPicPr>
          <p:cNvPr descr="A black background with a black square&#10;&#10;Description automatically generated with medium confidence" id="36" name="Google Shape;36;p54"/>
          <p:cNvPicPr preferRelativeResize="0"/>
          <p:nvPr/>
        </p:nvPicPr>
        <p:blipFill rotWithShape="1">
          <a:blip r:embed="rId2">
            <a:alphaModFix/>
          </a:blip>
          <a:srcRect b="0" l="0" r="1490" t="29865"/>
          <a:stretch/>
        </p:blipFill>
        <p:spPr>
          <a:xfrm>
            <a:off x="1042122" y="277367"/>
            <a:ext cx="11146703" cy="6355045"/>
          </a:xfrm>
          <a:prstGeom prst="rect">
            <a:avLst/>
          </a:prstGeom>
          <a:noFill/>
          <a:ln>
            <a:noFill/>
          </a:ln>
        </p:spPr>
      </p:pic>
      <p:sp>
        <p:nvSpPr>
          <p:cNvPr id="37" name="Google Shape;37;p54"/>
          <p:cNvSpPr/>
          <p:nvPr/>
        </p:nvSpPr>
        <p:spPr>
          <a:xfrm>
            <a:off x="-9619" y="-9622"/>
            <a:ext cx="12198444" cy="6877243"/>
          </a:xfrm>
          <a:prstGeom prst="rect">
            <a:avLst/>
          </a:prstGeom>
          <a:gradFill>
            <a:gsLst>
              <a:gs pos="0">
                <a:schemeClr val="lt1"/>
              </a:gs>
              <a:gs pos="25000">
                <a:schemeClr val="lt1"/>
              </a:gs>
              <a:gs pos="61000">
                <a:srgbClr val="FFFFFF">
                  <a:alpha val="89803"/>
                </a:srgbClr>
              </a:gs>
              <a:gs pos="79000">
                <a:srgbClr val="FFFFFF">
                  <a:alpha val="84705"/>
                </a:srgbClr>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 name="Google Shape;38;p54"/>
          <p:cNvSpPr txBox="1"/>
          <p:nvPr>
            <p:ph type="ctrTitle"/>
          </p:nvPr>
        </p:nvSpPr>
        <p:spPr>
          <a:xfrm>
            <a:off x="786201" y="2345723"/>
            <a:ext cx="10360501" cy="108327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DC4400"/>
              </a:buClr>
              <a:buSzPts val="6000"/>
              <a:buFont typeface="Impact"/>
              <a:buNone/>
              <a:defRPr b="1" i="0" sz="6000">
                <a:solidFill>
                  <a:srgbClr val="DC4400"/>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4"/>
          <p:cNvSpPr txBox="1"/>
          <p:nvPr>
            <p:ph idx="1" type="subTitle"/>
          </p:nvPr>
        </p:nvSpPr>
        <p:spPr>
          <a:xfrm>
            <a:off x="786201" y="3454890"/>
            <a:ext cx="8532178" cy="1327821"/>
          </a:xfrm>
          <a:prstGeom prst="rect">
            <a:avLst/>
          </a:prstGeom>
          <a:noFill/>
          <a:ln>
            <a:noFill/>
          </a:ln>
        </p:spPr>
        <p:txBody>
          <a:bodyPr anchorCtr="0" anchor="t" bIns="45700" lIns="91425" spcFirstLastPara="1" rIns="91425" wrap="square" tIns="45700">
            <a:normAutofit/>
          </a:bodyPr>
          <a:lstStyle>
            <a:lvl1pPr lvl="0" algn="l">
              <a:lnSpc>
                <a:spcPct val="130000"/>
              </a:lnSpc>
              <a:spcBef>
                <a:spcPts val="560"/>
              </a:spcBef>
              <a:spcAft>
                <a:spcPts val="0"/>
              </a:spcAft>
              <a:buClr>
                <a:srgbClr val="DC4400"/>
              </a:buClr>
              <a:buSzPts val="2800"/>
              <a:buNone/>
              <a:defRPr sz="2800">
                <a:solidFill>
                  <a:srgbClr val="DC4400"/>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40" name="Google Shape;40;p54"/>
          <p:cNvSpPr txBox="1"/>
          <p:nvPr/>
        </p:nvSpPr>
        <p:spPr>
          <a:xfrm>
            <a:off x="786201" y="6075181"/>
            <a:ext cx="10622361"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DC4400"/>
                </a:solidFill>
                <a:latin typeface="Arial"/>
                <a:ea typeface="Arial"/>
                <a:cs typeface="Arial"/>
                <a:sym typeface="Arial"/>
              </a:rPr>
              <a:t>COLLEGE OF ENGINEERING</a:t>
            </a:r>
            <a:endParaRPr b="0" i="0" sz="1400" u="none" cap="none" strike="noStrike">
              <a:solidFill>
                <a:srgbClr val="000000"/>
              </a:solidFill>
              <a:latin typeface="Arial"/>
              <a:ea typeface="Arial"/>
              <a:cs typeface="Arial"/>
              <a:sym typeface="Arial"/>
            </a:endParaRPr>
          </a:p>
        </p:txBody>
      </p:sp>
      <p:sp>
        <p:nvSpPr>
          <p:cNvPr id="41" name="Google Shape;41;p54"/>
          <p:cNvSpPr/>
          <p:nvPr/>
        </p:nvSpPr>
        <p:spPr>
          <a:xfrm>
            <a:off x="8122783" y="152387"/>
            <a:ext cx="3654689" cy="153010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42" name="Google Shape;42;p54"/>
          <p:cNvPicPr preferRelativeResize="0"/>
          <p:nvPr/>
        </p:nvPicPr>
        <p:blipFill rotWithShape="1">
          <a:blip r:embed="rId3">
            <a:alphaModFix/>
          </a:blip>
          <a:srcRect b="0" l="0" r="0" t="0"/>
          <a:stretch/>
        </p:blipFill>
        <p:spPr>
          <a:xfrm>
            <a:off x="8369085" y="413487"/>
            <a:ext cx="3039475" cy="97152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 Slide 6">
    <p:spTree>
      <p:nvGrpSpPr>
        <p:cNvPr id="43" name="Shape 43"/>
        <p:cNvGrpSpPr/>
        <p:nvPr/>
      </p:nvGrpSpPr>
      <p:grpSpPr>
        <a:xfrm>
          <a:off x="0" y="0"/>
          <a:ext cx="0" cy="0"/>
          <a:chOff x="0" y="0"/>
          <a:chExt cx="0" cy="0"/>
        </a:xfrm>
      </p:grpSpPr>
      <p:sp>
        <p:nvSpPr>
          <p:cNvPr id="44" name="Google Shape;44;p55"/>
          <p:cNvSpPr/>
          <p:nvPr/>
        </p:nvSpPr>
        <p:spPr>
          <a:xfrm>
            <a:off x="364172" y="439377"/>
            <a:ext cx="11460479" cy="6031026"/>
          </a:xfrm>
          <a:prstGeom prst="rect">
            <a:avLst/>
          </a:prstGeom>
          <a:no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 name="Google Shape;45;p55"/>
          <p:cNvSpPr txBox="1"/>
          <p:nvPr/>
        </p:nvSpPr>
        <p:spPr>
          <a:xfrm>
            <a:off x="783230" y="5818884"/>
            <a:ext cx="10622361"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DC4400"/>
                </a:solidFill>
                <a:latin typeface="Arial"/>
                <a:ea typeface="Arial"/>
                <a:cs typeface="Arial"/>
                <a:sym typeface="Arial"/>
              </a:rPr>
              <a:t>COLLEGE OF ENGINEERING</a:t>
            </a:r>
            <a:endParaRPr b="0" i="0" sz="1400" u="none" cap="none" strike="noStrike">
              <a:solidFill>
                <a:srgbClr val="000000"/>
              </a:solidFill>
              <a:latin typeface="Arial"/>
              <a:ea typeface="Arial"/>
              <a:cs typeface="Arial"/>
              <a:sym typeface="Arial"/>
            </a:endParaRPr>
          </a:p>
        </p:txBody>
      </p:sp>
      <p:pic>
        <p:nvPicPr>
          <p:cNvPr id="46" name="Google Shape;46;p55"/>
          <p:cNvPicPr preferRelativeResize="0"/>
          <p:nvPr/>
        </p:nvPicPr>
        <p:blipFill rotWithShape="1">
          <a:blip r:embed="rId2">
            <a:alphaModFix/>
          </a:blip>
          <a:srcRect b="0" l="0" r="0" t="0"/>
          <a:stretch/>
        </p:blipFill>
        <p:spPr>
          <a:xfrm>
            <a:off x="8724603" y="722313"/>
            <a:ext cx="2680988" cy="856936"/>
          </a:xfrm>
          <a:prstGeom prst="rect">
            <a:avLst/>
          </a:prstGeom>
          <a:noFill/>
          <a:ln>
            <a:noFill/>
          </a:ln>
        </p:spPr>
      </p:pic>
      <p:sp>
        <p:nvSpPr>
          <p:cNvPr id="47" name="Google Shape;47;p55"/>
          <p:cNvSpPr txBox="1"/>
          <p:nvPr>
            <p:ph type="ctrTitle"/>
          </p:nvPr>
        </p:nvSpPr>
        <p:spPr>
          <a:xfrm>
            <a:off x="786201" y="2345723"/>
            <a:ext cx="10360501" cy="108327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DC4400"/>
              </a:buClr>
              <a:buSzPts val="6000"/>
              <a:buFont typeface="Impact"/>
              <a:buNone/>
              <a:defRPr b="1" i="0" sz="6000">
                <a:solidFill>
                  <a:srgbClr val="DC4400"/>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5"/>
          <p:cNvSpPr txBox="1"/>
          <p:nvPr>
            <p:ph idx="1" type="subTitle"/>
          </p:nvPr>
        </p:nvSpPr>
        <p:spPr>
          <a:xfrm>
            <a:off x="786201" y="3454890"/>
            <a:ext cx="8532178" cy="1327821"/>
          </a:xfrm>
          <a:prstGeom prst="rect">
            <a:avLst/>
          </a:prstGeom>
          <a:noFill/>
          <a:ln>
            <a:noFill/>
          </a:ln>
        </p:spPr>
        <p:txBody>
          <a:bodyPr anchorCtr="0" anchor="t" bIns="45700" lIns="91425" spcFirstLastPara="1" rIns="91425" wrap="square" tIns="45700">
            <a:normAutofit/>
          </a:bodyPr>
          <a:lstStyle>
            <a:lvl1pPr lvl="0" algn="l">
              <a:lnSpc>
                <a:spcPct val="130000"/>
              </a:lnSpc>
              <a:spcBef>
                <a:spcPts val="560"/>
              </a:spcBef>
              <a:spcAft>
                <a:spcPts val="0"/>
              </a:spcAft>
              <a:buClr>
                <a:srgbClr val="DC4400"/>
              </a:buClr>
              <a:buSzPts val="2800"/>
              <a:buNone/>
              <a:defRPr sz="2800">
                <a:solidFill>
                  <a:srgbClr val="DC4400"/>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8">
  <p:cSld name="Title Slide 8">
    <p:spTree>
      <p:nvGrpSpPr>
        <p:cNvPr id="49" name="Shape 49"/>
        <p:cNvGrpSpPr/>
        <p:nvPr/>
      </p:nvGrpSpPr>
      <p:grpSpPr>
        <a:xfrm>
          <a:off x="0" y="0"/>
          <a:ext cx="0" cy="0"/>
          <a:chOff x="0" y="0"/>
          <a:chExt cx="0" cy="0"/>
        </a:xfrm>
      </p:grpSpPr>
      <p:sp>
        <p:nvSpPr>
          <p:cNvPr id="50" name="Google Shape;50;p56"/>
          <p:cNvSpPr txBox="1"/>
          <p:nvPr/>
        </p:nvSpPr>
        <p:spPr>
          <a:xfrm>
            <a:off x="783230" y="5818884"/>
            <a:ext cx="10622361"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DC4400"/>
                </a:solidFill>
                <a:latin typeface="Arial"/>
                <a:ea typeface="Arial"/>
                <a:cs typeface="Arial"/>
                <a:sym typeface="Arial"/>
              </a:rPr>
              <a:t>COLLEGE OF ENGINEERING</a:t>
            </a:r>
            <a:endParaRPr b="0" i="0" sz="1400" u="none" cap="none" strike="noStrike">
              <a:solidFill>
                <a:srgbClr val="000000"/>
              </a:solidFill>
              <a:latin typeface="Arial"/>
              <a:ea typeface="Arial"/>
              <a:cs typeface="Arial"/>
              <a:sym typeface="Arial"/>
            </a:endParaRPr>
          </a:p>
        </p:txBody>
      </p:sp>
      <p:pic>
        <p:nvPicPr>
          <p:cNvPr id="51" name="Google Shape;51;p56"/>
          <p:cNvPicPr preferRelativeResize="0"/>
          <p:nvPr/>
        </p:nvPicPr>
        <p:blipFill rotWithShape="1">
          <a:blip r:embed="rId2">
            <a:alphaModFix/>
          </a:blip>
          <a:srcRect b="0" l="0" r="0" t="0"/>
          <a:stretch/>
        </p:blipFill>
        <p:spPr>
          <a:xfrm>
            <a:off x="8724603" y="722313"/>
            <a:ext cx="2680988" cy="856936"/>
          </a:xfrm>
          <a:prstGeom prst="rect">
            <a:avLst/>
          </a:prstGeom>
          <a:noFill/>
          <a:ln>
            <a:noFill/>
          </a:ln>
        </p:spPr>
      </p:pic>
      <p:sp>
        <p:nvSpPr>
          <p:cNvPr id="52" name="Google Shape;52;p56"/>
          <p:cNvSpPr txBox="1"/>
          <p:nvPr>
            <p:ph type="ctrTitle"/>
          </p:nvPr>
        </p:nvSpPr>
        <p:spPr>
          <a:xfrm>
            <a:off x="786201" y="2345723"/>
            <a:ext cx="10360501" cy="108327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DC4400"/>
              </a:buClr>
              <a:buSzPts val="6000"/>
              <a:buFont typeface="Impact"/>
              <a:buNone/>
              <a:defRPr b="1" i="0" sz="6000">
                <a:solidFill>
                  <a:srgbClr val="DC4400"/>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6"/>
          <p:cNvSpPr txBox="1"/>
          <p:nvPr>
            <p:ph idx="1" type="subTitle"/>
          </p:nvPr>
        </p:nvSpPr>
        <p:spPr>
          <a:xfrm>
            <a:off x="786201" y="3454890"/>
            <a:ext cx="8532178" cy="1327821"/>
          </a:xfrm>
          <a:prstGeom prst="rect">
            <a:avLst/>
          </a:prstGeom>
          <a:noFill/>
          <a:ln>
            <a:noFill/>
          </a:ln>
        </p:spPr>
        <p:txBody>
          <a:bodyPr anchorCtr="0" anchor="t" bIns="45700" lIns="91425" spcFirstLastPara="1" rIns="91425" wrap="square" tIns="45700">
            <a:normAutofit/>
          </a:bodyPr>
          <a:lstStyle>
            <a:lvl1pPr lvl="0" algn="l">
              <a:lnSpc>
                <a:spcPct val="130000"/>
              </a:lnSpc>
              <a:spcBef>
                <a:spcPts val="560"/>
              </a:spcBef>
              <a:spcAft>
                <a:spcPts val="0"/>
              </a:spcAft>
              <a:buClr>
                <a:srgbClr val="DC4400"/>
              </a:buClr>
              <a:buSzPts val="2800"/>
              <a:buNone/>
              <a:defRPr sz="2800">
                <a:solidFill>
                  <a:srgbClr val="DC4400"/>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aragraph" type="obj">
  <p:cSld name="OBJECT">
    <p:spTree>
      <p:nvGrpSpPr>
        <p:cNvPr id="54" name="Shape 54"/>
        <p:cNvGrpSpPr/>
        <p:nvPr/>
      </p:nvGrpSpPr>
      <p:grpSpPr>
        <a:xfrm>
          <a:off x="0" y="0"/>
          <a:ext cx="0" cy="0"/>
          <a:chOff x="0" y="0"/>
          <a:chExt cx="0" cy="0"/>
        </a:xfrm>
      </p:grpSpPr>
      <p:sp>
        <p:nvSpPr>
          <p:cNvPr id="55" name="Google Shape;55;p57"/>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7"/>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3000"/>
              <a:buNone/>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57" name="Google Shape;57;p57"/>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aragraph - Orange equals">
  <p:cSld name="Title &amp; Paragraph - Orange equals">
    <p:spTree>
      <p:nvGrpSpPr>
        <p:cNvPr id="58" name="Shape 58"/>
        <p:cNvGrpSpPr/>
        <p:nvPr/>
      </p:nvGrpSpPr>
      <p:grpSpPr>
        <a:xfrm>
          <a:off x="0" y="0"/>
          <a:ext cx="0" cy="0"/>
          <a:chOff x="0" y="0"/>
          <a:chExt cx="0" cy="0"/>
        </a:xfrm>
      </p:grpSpPr>
      <p:sp>
        <p:nvSpPr>
          <p:cNvPr id="59" name="Google Shape;59;p60"/>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3000"/>
              <a:buNone/>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61" name="Google Shape;61;p60"/>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62" name="Google Shape;62;p60"/>
          <p:cNvPicPr preferRelativeResize="0"/>
          <p:nvPr/>
        </p:nvPicPr>
        <p:blipFill rotWithShape="1">
          <a:blip r:embed="rId3">
            <a:alphaModFix/>
          </a:blip>
          <a:srcRect b="44998" l="0" r="0" t="50000"/>
          <a:stretch/>
        </p:blipFill>
        <p:spPr>
          <a:xfrm>
            <a:off x="197324" y="6126165"/>
            <a:ext cx="11794176" cy="47239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aragraph - Hop bine 4dots">
  <p:cSld name="Title &amp; Paragraph - Hop bine 4dots">
    <p:spTree>
      <p:nvGrpSpPr>
        <p:cNvPr id="63" name="Shape 63"/>
        <p:cNvGrpSpPr/>
        <p:nvPr/>
      </p:nvGrpSpPr>
      <p:grpSpPr>
        <a:xfrm>
          <a:off x="0" y="0"/>
          <a:ext cx="0" cy="0"/>
          <a:chOff x="0" y="0"/>
          <a:chExt cx="0" cy="0"/>
        </a:xfrm>
      </p:grpSpPr>
      <p:sp>
        <p:nvSpPr>
          <p:cNvPr id="64" name="Google Shape;64;p61"/>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1"/>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3000"/>
              <a:buNone/>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66" name="Google Shape;66;p61"/>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67" name="Google Shape;67;p61"/>
          <p:cNvPicPr preferRelativeResize="0"/>
          <p:nvPr/>
        </p:nvPicPr>
        <p:blipFill rotWithShape="1">
          <a:blip r:embed="rId3">
            <a:alphaModFix/>
          </a:blip>
          <a:srcRect b="46656" l="0" r="0" t="46655"/>
          <a:stretch/>
        </p:blipFill>
        <p:spPr>
          <a:xfrm>
            <a:off x="197324" y="6242859"/>
            <a:ext cx="11794176" cy="47239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aragraph - Moondust triangles">
  <p:cSld name="Title &amp; Paragraph - Moondust triangles">
    <p:spTree>
      <p:nvGrpSpPr>
        <p:cNvPr id="68" name="Shape 68"/>
        <p:cNvGrpSpPr/>
        <p:nvPr/>
      </p:nvGrpSpPr>
      <p:grpSpPr>
        <a:xfrm>
          <a:off x="0" y="0"/>
          <a:ext cx="0" cy="0"/>
          <a:chOff x="0" y="0"/>
          <a:chExt cx="0" cy="0"/>
        </a:xfrm>
      </p:grpSpPr>
      <p:sp>
        <p:nvSpPr>
          <p:cNvPr id="69" name="Google Shape;69;p62"/>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2"/>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3000"/>
              <a:buNone/>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71" name="Google Shape;71;p62"/>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72" name="Google Shape;72;p62"/>
          <p:cNvPicPr preferRelativeResize="0"/>
          <p:nvPr/>
        </p:nvPicPr>
        <p:blipFill rotWithShape="1">
          <a:blip r:embed="rId3">
            <a:alphaModFix/>
          </a:blip>
          <a:srcRect b="42928" l="0" r="0" t="50760"/>
          <a:stretch/>
        </p:blipFill>
        <p:spPr>
          <a:xfrm>
            <a:off x="197324" y="6242859"/>
            <a:ext cx="11794176" cy="47239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aragraph - Moondust tree ring">
  <p:cSld name="Title &amp; Paragraph - Moondust tree ring">
    <p:spTree>
      <p:nvGrpSpPr>
        <p:cNvPr id="73" name="Shape 73"/>
        <p:cNvGrpSpPr/>
        <p:nvPr/>
      </p:nvGrpSpPr>
      <p:grpSpPr>
        <a:xfrm>
          <a:off x="0" y="0"/>
          <a:ext cx="0" cy="0"/>
          <a:chOff x="0" y="0"/>
          <a:chExt cx="0" cy="0"/>
        </a:xfrm>
      </p:grpSpPr>
      <p:sp>
        <p:nvSpPr>
          <p:cNvPr id="74" name="Google Shape;74;p63"/>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3"/>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00"/>
              </a:spcBef>
              <a:spcAft>
                <a:spcPts val="0"/>
              </a:spcAft>
              <a:buClr>
                <a:schemeClr val="dk1"/>
              </a:buClr>
              <a:buSzPts val="3000"/>
              <a:buNone/>
              <a:defRPr/>
            </a:lvl1pPr>
            <a:lvl2pPr indent="-228600" lvl="1" marL="914400" algn="l">
              <a:lnSpc>
                <a:spcPct val="100000"/>
              </a:lnSpc>
              <a:spcBef>
                <a:spcPts val="520"/>
              </a:spcBef>
              <a:spcAft>
                <a:spcPts val="0"/>
              </a:spcAft>
              <a:buClr>
                <a:schemeClr val="dk1"/>
              </a:buClr>
              <a:buSzPts val="2600"/>
              <a:buNone/>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76" name="Google Shape;76;p63"/>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77" name="Google Shape;77;p63"/>
          <p:cNvPicPr preferRelativeResize="0"/>
          <p:nvPr/>
        </p:nvPicPr>
        <p:blipFill rotWithShape="1">
          <a:blip r:embed="rId3">
            <a:alphaModFix/>
          </a:blip>
          <a:srcRect b="56997" l="78738" r="451" t="-20790"/>
          <a:stretch/>
        </p:blipFill>
        <p:spPr>
          <a:xfrm rot="-5400000">
            <a:off x="8546308" y="3215483"/>
            <a:ext cx="1640138" cy="564489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 Points">
  <p:cSld name="Title &amp; Bullet Points">
    <p:spTree>
      <p:nvGrpSpPr>
        <p:cNvPr id="78" name="Shape 78"/>
        <p:cNvGrpSpPr/>
        <p:nvPr/>
      </p:nvGrpSpPr>
      <p:grpSpPr>
        <a:xfrm>
          <a:off x="0" y="0"/>
          <a:ext cx="0" cy="0"/>
          <a:chOff x="0" y="0"/>
          <a:chExt cx="0" cy="0"/>
        </a:xfrm>
      </p:grpSpPr>
      <p:sp>
        <p:nvSpPr>
          <p:cNvPr id="79" name="Google Shape;79;p64"/>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80" name="Google Shape;80;p64"/>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81" name="Google Shape;81;p64"/>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 Points - Luminance equals">
  <p:cSld name="Title &amp; Bullet Points - Luminance equals">
    <p:spTree>
      <p:nvGrpSpPr>
        <p:cNvPr id="82" name="Shape 82"/>
        <p:cNvGrpSpPr/>
        <p:nvPr/>
      </p:nvGrpSpPr>
      <p:grpSpPr>
        <a:xfrm>
          <a:off x="0" y="0"/>
          <a:ext cx="0" cy="0"/>
          <a:chOff x="0" y="0"/>
          <a:chExt cx="0" cy="0"/>
        </a:xfrm>
      </p:grpSpPr>
      <p:sp>
        <p:nvSpPr>
          <p:cNvPr id="83" name="Google Shape;83;p65"/>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5"/>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85" name="Google Shape;85;p65"/>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86" name="Google Shape;86;p65"/>
          <p:cNvPicPr preferRelativeResize="0"/>
          <p:nvPr/>
        </p:nvPicPr>
        <p:blipFill rotWithShape="1">
          <a:blip r:embed="rId3">
            <a:alphaModFix/>
          </a:blip>
          <a:srcRect b="45000" l="0" r="0" t="50000"/>
          <a:stretch/>
        </p:blipFill>
        <p:spPr>
          <a:xfrm>
            <a:off x="197324" y="6126165"/>
            <a:ext cx="11794176" cy="472394"/>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 Points - Seafoam equals">
  <p:cSld name="Title &amp; Bullet Points - Seafoam equals">
    <p:spTree>
      <p:nvGrpSpPr>
        <p:cNvPr id="87" name="Shape 87"/>
        <p:cNvGrpSpPr/>
        <p:nvPr/>
      </p:nvGrpSpPr>
      <p:grpSpPr>
        <a:xfrm>
          <a:off x="0" y="0"/>
          <a:ext cx="0" cy="0"/>
          <a:chOff x="0" y="0"/>
          <a:chExt cx="0" cy="0"/>
        </a:xfrm>
      </p:grpSpPr>
      <p:sp>
        <p:nvSpPr>
          <p:cNvPr id="88" name="Google Shape;88;p66"/>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6"/>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90" name="Google Shape;90;p66"/>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91" name="Google Shape;91;p66"/>
          <p:cNvPicPr preferRelativeResize="0"/>
          <p:nvPr/>
        </p:nvPicPr>
        <p:blipFill rotWithShape="1">
          <a:blip r:embed="rId3">
            <a:alphaModFix/>
          </a:blip>
          <a:srcRect b="45000" l="0" r="0" t="50000"/>
          <a:stretch/>
        </p:blipFill>
        <p:spPr>
          <a:xfrm>
            <a:off x="197324" y="6126165"/>
            <a:ext cx="11794176" cy="472394"/>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 Points - Orange equals">
  <p:cSld name="Title &amp; Bullet Points - Orange equals">
    <p:spTree>
      <p:nvGrpSpPr>
        <p:cNvPr id="92" name="Shape 92"/>
        <p:cNvGrpSpPr/>
        <p:nvPr/>
      </p:nvGrpSpPr>
      <p:grpSpPr>
        <a:xfrm>
          <a:off x="0" y="0"/>
          <a:ext cx="0" cy="0"/>
          <a:chOff x="0" y="0"/>
          <a:chExt cx="0" cy="0"/>
        </a:xfrm>
      </p:grpSpPr>
      <p:sp>
        <p:nvSpPr>
          <p:cNvPr id="93" name="Google Shape;93;p67"/>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67"/>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95" name="Google Shape;95;p67"/>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96" name="Google Shape;96;p67"/>
          <p:cNvPicPr preferRelativeResize="0"/>
          <p:nvPr/>
        </p:nvPicPr>
        <p:blipFill rotWithShape="1">
          <a:blip r:embed="rId3">
            <a:alphaModFix/>
          </a:blip>
          <a:srcRect b="44998" l="0" r="0" t="50000"/>
          <a:stretch/>
        </p:blipFill>
        <p:spPr>
          <a:xfrm>
            <a:off x="197324" y="6126165"/>
            <a:ext cx="11794176" cy="472394"/>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 Points - Hop bine 4dots">
  <p:cSld name="Title &amp; Bullet Points - Hop bine 4dots">
    <p:spTree>
      <p:nvGrpSpPr>
        <p:cNvPr id="97" name="Shape 97"/>
        <p:cNvGrpSpPr/>
        <p:nvPr/>
      </p:nvGrpSpPr>
      <p:grpSpPr>
        <a:xfrm>
          <a:off x="0" y="0"/>
          <a:ext cx="0" cy="0"/>
          <a:chOff x="0" y="0"/>
          <a:chExt cx="0" cy="0"/>
        </a:xfrm>
      </p:grpSpPr>
      <p:sp>
        <p:nvSpPr>
          <p:cNvPr id="98" name="Google Shape;98;p68"/>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8"/>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00" name="Google Shape;100;p68"/>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101" name="Google Shape;101;p68"/>
          <p:cNvPicPr preferRelativeResize="0"/>
          <p:nvPr/>
        </p:nvPicPr>
        <p:blipFill rotWithShape="1">
          <a:blip r:embed="rId3">
            <a:alphaModFix/>
          </a:blip>
          <a:srcRect b="46656" l="0" r="0" t="46655"/>
          <a:stretch/>
        </p:blipFill>
        <p:spPr>
          <a:xfrm>
            <a:off x="197324" y="6242859"/>
            <a:ext cx="11794176" cy="472394"/>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 Points - Moondust triangles">
  <p:cSld name="Title &amp; Bullet Points - Moondust triangles">
    <p:spTree>
      <p:nvGrpSpPr>
        <p:cNvPr id="102" name="Shape 102"/>
        <p:cNvGrpSpPr/>
        <p:nvPr/>
      </p:nvGrpSpPr>
      <p:grpSpPr>
        <a:xfrm>
          <a:off x="0" y="0"/>
          <a:ext cx="0" cy="0"/>
          <a:chOff x="0" y="0"/>
          <a:chExt cx="0" cy="0"/>
        </a:xfrm>
      </p:grpSpPr>
      <p:sp>
        <p:nvSpPr>
          <p:cNvPr id="103" name="Google Shape;103;p69"/>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69"/>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05" name="Google Shape;105;p69"/>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106" name="Google Shape;106;p69"/>
          <p:cNvPicPr preferRelativeResize="0"/>
          <p:nvPr/>
        </p:nvPicPr>
        <p:blipFill rotWithShape="1">
          <a:blip r:embed="rId3">
            <a:alphaModFix/>
          </a:blip>
          <a:srcRect b="42928" l="0" r="0" t="50760"/>
          <a:stretch/>
        </p:blipFill>
        <p:spPr>
          <a:xfrm>
            <a:off x="197324" y="6242859"/>
            <a:ext cx="11794176" cy="472394"/>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 Points - Moondust tree ring">
  <p:cSld name="Title &amp; Bullet Points - Moondust tree ring">
    <p:spTree>
      <p:nvGrpSpPr>
        <p:cNvPr id="107" name="Shape 107"/>
        <p:cNvGrpSpPr/>
        <p:nvPr/>
      </p:nvGrpSpPr>
      <p:grpSpPr>
        <a:xfrm>
          <a:off x="0" y="0"/>
          <a:ext cx="0" cy="0"/>
          <a:chOff x="0" y="0"/>
          <a:chExt cx="0" cy="0"/>
        </a:xfrm>
      </p:grpSpPr>
      <p:sp>
        <p:nvSpPr>
          <p:cNvPr id="108" name="Google Shape;108;p70"/>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70"/>
          <p:cNvSpPr txBox="1"/>
          <p:nvPr>
            <p:ph idx="1" type="body"/>
          </p:nvPr>
        </p:nvSpPr>
        <p:spPr>
          <a:xfrm>
            <a:off x="912979" y="2443959"/>
            <a:ext cx="10362867"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10" name="Google Shape;110;p70"/>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pic>
        <p:nvPicPr>
          <p:cNvPr id="111" name="Google Shape;111;p70"/>
          <p:cNvPicPr preferRelativeResize="0"/>
          <p:nvPr/>
        </p:nvPicPr>
        <p:blipFill rotWithShape="1">
          <a:blip r:embed="rId3">
            <a:alphaModFix/>
          </a:blip>
          <a:srcRect b="56997" l="78738" r="451" t="-20790"/>
          <a:stretch/>
        </p:blipFill>
        <p:spPr>
          <a:xfrm rot="-5400000">
            <a:off x="8546308" y="3215483"/>
            <a:ext cx="1640138" cy="5644896"/>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Objectives">
  <p:cSld name="4 Objectives">
    <p:spTree>
      <p:nvGrpSpPr>
        <p:cNvPr id="112" name="Shape 112"/>
        <p:cNvGrpSpPr/>
        <p:nvPr/>
      </p:nvGrpSpPr>
      <p:grpSpPr>
        <a:xfrm>
          <a:off x="0" y="0"/>
          <a:ext cx="0" cy="0"/>
          <a:chOff x="0" y="0"/>
          <a:chExt cx="0" cy="0"/>
        </a:xfrm>
      </p:grpSpPr>
      <p:sp>
        <p:nvSpPr>
          <p:cNvPr id="113" name="Google Shape;113;p71"/>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114" name="Google Shape;114;p71"/>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15" name="Google Shape;115;p71"/>
          <p:cNvSpPr/>
          <p:nvPr/>
        </p:nvSpPr>
        <p:spPr>
          <a:xfrm>
            <a:off x="912975" y="2810107"/>
            <a:ext cx="2394998" cy="3315602"/>
          </a:xfrm>
          <a:prstGeom prst="rect">
            <a:avLst/>
          </a:prstGeom>
          <a:solidFill>
            <a:schemeClr val="lt1"/>
          </a:solid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6" name="Google Shape;116;p71"/>
          <p:cNvSpPr/>
          <p:nvPr/>
        </p:nvSpPr>
        <p:spPr>
          <a:xfrm>
            <a:off x="8880848" y="2810107"/>
            <a:ext cx="2394998" cy="3315602"/>
          </a:xfrm>
          <a:prstGeom prst="rect">
            <a:avLst/>
          </a:prstGeom>
          <a:solidFill>
            <a:schemeClr val="lt1"/>
          </a:solid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7" name="Google Shape;117;p71"/>
          <p:cNvSpPr/>
          <p:nvPr/>
        </p:nvSpPr>
        <p:spPr>
          <a:xfrm>
            <a:off x="6224891" y="2810107"/>
            <a:ext cx="2394998" cy="3315602"/>
          </a:xfrm>
          <a:prstGeom prst="rect">
            <a:avLst/>
          </a:prstGeom>
          <a:solidFill>
            <a:schemeClr val="lt1"/>
          </a:solid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71"/>
          <p:cNvSpPr/>
          <p:nvPr/>
        </p:nvSpPr>
        <p:spPr>
          <a:xfrm>
            <a:off x="3568935" y="2810107"/>
            <a:ext cx="2394998" cy="3315602"/>
          </a:xfrm>
          <a:prstGeom prst="rect">
            <a:avLst/>
          </a:prstGeom>
          <a:solidFill>
            <a:schemeClr val="lt1"/>
          </a:solid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9" name="Google Shape;119;p71"/>
          <p:cNvSpPr/>
          <p:nvPr/>
        </p:nvSpPr>
        <p:spPr>
          <a:xfrm>
            <a:off x="4399557" y="2443236"/>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2</a:t>
            </a:r>
            <a:endParaRPr b="0" i="0" sz="1400" u="none" cap="none" strike="noStrike">
              <a:solidFill>
                <a:srgbClr val="000000"/>
              </a:solidFill>
              <a:latin typeface="Arial"/>
              <a:ea typeface="Arial"/>
              <a:cs typeface="Arial"/>
              <a:sym typeface="Arial"/>
            </a:endParaRPr>
          </a:p>
        </p:txBody>
      </p:sp>
      <p:sp>
        <p:nvSpPr>
          <p:cNvPr id="120" name="Google Shape;120;p71"/>
          <p:cNvSpPr/>
          <p:nvPr/>
        </p:nvSpPr>
        <p:spPr>
          <a:xfrm>
            <a:off x="1743606" y="2443236"/>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1</a:t>
            </a:r>
            <a:endParaRPr b="0" i="0" sz="1400" u="none" cap="none" strike="noStrike">
              <a:solidFill>
                <a:srgbClr val="000000"/>
              </a:solidFill>
              <a:latin typeface="Arial"/>
              <a:ea typeface="Arial"/>
              <a:cs typeface="Arial"/>
              <a:sym typeface="Arial"/>
            </a:endParaRPr>
          </a:p>
        </p:txBody>
      </p:sp>
      <p:sp>
        <p:nvSpPr>
          <p:cNvPr id="121" name="Google Shape;121;p71"/>
          <p:cNvSpPr/>
          <p:nvPr/>
        </p:nvSpPr>
        <p:spPr>
          <a:xfrm>
            <a:off x="7055518" y="2443236"/>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3</a:t>
            </a:r>
            <a:endParaRPr b="0" i="0" sz="1400" u="none" cap="none" strike="noStrike">
              <a:solidFill>
                <a:srgbClr val="000000"/>
              </a:solidFill>
              <a:latin typeface="Arial"/>
              <a:ea typeface="Arial"/>
              <a:cs typeface="Arial"/>
              <a:sym typeface="Arial"/>
            </a:endParaRPr>
          </a:p>
        </p:txBody>
      </p:sp>
      <p:sp>
        <p:nvSpPr>
          <p:cNvPr id="122" name="Google Shape;122;p71"/>
          <p:cNvSpPr/>
          <p:nvPr/>
        </p:nvSpPr>
        <p:spPr>
          <a:xfrm>
            <a:off x="9711473" y="2443236"/>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4</a:t>
            </a:r>
            <a:endParaRPr b="0" i="0" sz="1400" u="none" cap="none" strike="noStrike">
              <a:solidFill>
                <a:srgbClr val="000000"/>
              </a:solidFill>
              <a:latin typeface="Arial"/>
              <a:ea typeface="Arial"/>
              <a:cs typeface="Arial"/>
              <a:sym typeface="Arial"/>
            </a:endParaRPr>
          </a:p>
        </p:txBody>
      </p:sp>
      <p:sp>
        <p:nvSpPr>
          <p:cNvPr id="123" name="Google Shape;123;p71"/>
          <p:cNvSpPr txBox="1"/>
          <p:nvPr>
            <p:ph idx="1" type="body"/>
          </p:nvPr>
        </p:nvSpPr>
        <p:spPr>
          <a:xfrm>
            <a:off x="1103205" y="3407620"/>
            <a:ext cx="2014538"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sz="24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4" name="Google Shape;124;p71"/>
          <p:cNvSpPr txBox="1"/>
          <p:nvPr>
            <p:ph idx="2" type="body"/>
          </p:nvPr>
        </p:nvSpPr>
        <p:spPr>
          <a:xfrm>
            <a:off x="3759159" y="3407619"/>
            <a:ext cx="2014538"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sz="24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5" name="Google Shape;125;p71"/>
          <p:cNvSpPr txBox="1"/>
          <p:nvPr>
            <p:ph idx="3" type="body"/>
          </p:nvPr>
        </p:nvSpPr>
        <p:spPr>
          <a:xfrm>
            <a:off x="6415120" y="3407619"/>
            <a:ext cx="2014538"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sz="24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6" name="Google Shape;126;p71"/>
          <p:cNvSpPr txBox="1"/>
          <p:nvPr>
            <p:ph idx="4" type="body"/>
          </p:nvPr>
        </p:nvSpPr>
        <p:spPr>
          <a:xfrm>
            <a:off x="9071082" y="3407618"/>
            <a:ext cx="2014538"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sz="24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Objectives">
  <p:cSld name="3 Objectives">
    <p:spTree>
      <p:nvGrpSpPr>
        <p:cNvPr id="127" name="Shape 127"/>
        <p:cNvGrpSpPr/>
        <p:nvPr/>
      </p:nvGrpSpPr>
      <p:grpSpPr>
        <a:xfrm>
          <a:off x="0" y="0"/>
          <a:ext cx="0" cy="0"/>
          <a:chOff x="0" y="0"/>
          <a:chExt cx="0" cy="0"/>
        </a:xfrm>
      </p:grpSpPr>
      <p:sp>
        <p:nvSpPr>
          <p:cNvPr id="128" name="Google Shape;128;p72"/>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129" name="Google Shape;129;p72"/>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30" name="Google Shape;130;p72"/>
          <p:cNvSpPr/>
          <p:nvPr/>
        </p:nvSpPr>
        <p:spPr>
          <a:xfrm>
            <a:off x="912975" y="2815682"/>
            <a:ext cx="3282692" cy="3315602"/>
          </a:xfrm>
          <a:prstGeom prst="rect">
            <a:avLst/>
          </a:prstGeom>
          <a:no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72"/>
          <p:cNvSpPr/>
          <p:nvPr/>
        </p:nvSpPr>
        <p:spPr>
          <a:xfrm>
            <a:off x="8004169" y="2815682"/>
            <a:ext cx="3286586" cy="3315602"/>
          </a:xfrm>
          <a:prstGeom prst="rect">
            <a:avLst/>
          </a:prstGeom>
          <a:no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2" name="Google Shape;132;p72"/>
          <p:cNvSpPr/>
          <p:nvPr/>
        </p:nvSpPr>
        <p:spPr>
          <a:xfrm>
            <a:off x="4456625" y="2815682"/>
            <a:ext cx="3286586" cy="3315602"/>
          </a:xfrm>
          <a:prstGeom prst="rect">
            <a:avLst/>
          </a:prstGeom>
          <a:no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72"/>
          <p:cNvSpPr/>
          <p:nvPr/>
        </p:nvSpPr>
        <p:spPr>
          <a:xfrm>
            <a:off x="5727541" y="2443236"/>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2</a:t>
            </a:r>
            <a:endParaRPr b="0" i="0" sz="1400" u="none" cap="none" strike="noStrike">
              <a:solidFill>
                <a:srgbClr val="000000"/>
              </a:solidFill>
              <a:latin typeface="Arial"/>
              <a:ea typeface="Arial"/>
              <a:cs typeface="Arial"/>
              <a:sym typeface="Arial"/>
            </a:endParaRPr>
          </a:p>
        </p:txBody>
      </p:sp>
      <p:sp>
        <p:nvSpPr>
          <p:cNvPr id="134" name="Google Shape;134;p72"/>
          <p:cNvSpPr/>
          <p:nvPr/>
        </p:nvSpPr>
        <p:spPr>
          <a:xfrm>
            <a:off x="2174492" y="2443236"/>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1</a:t>
            </a:r>
            <a:endParaRPr b="0" i="0" sz="1400" u="none" cap="none" strike="noStrike">
              <a:solidFill>
                <a:srgbClr val="000000"/>
              </a:solidFill>
              <a:latin typeface="Arial"/>
              <a:ea typeface="Arial"/>
              <a:cs typeface="Arial"/>
              <a:sym typeface="Arial"/>
            </a:endParaRPr>
          </a:p>
        </p:txBody>
      </p:sp>
      <p:sp>
        <p:nvSpPr>
          <p:cNvPr id="135" name="Google Shape;135;p72"/>
          <p:cNvSpPr/>
          <p:nvPr/>
        </p:nvSpPr>
        <p:spPr>
          <a:xfrm>
            <a:off x="9280591" y="2443236"/>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3</a:t>
            </a:r>
            <a:endParaRPr b="0" i="0" sz="1400" u="none" cap="none" strike="noStrike">
              <a:solidFill>
                <a:srgbClr val="000000"/>
              </a:solidFill>
              <a:latin typeface="Arial"/>
              <a:ea typeface="Arial"/>
              <a:cs typeface="Arial"/>
              <a:sym typeface="Arial"/>
            </a:endParaRPr>
          </a:p>
        </p:txBody>
      </p:sp>
      <p:sp>
        <p:nvSpPr>
          <p:cNvPr id="136" name="Google Shape;136;p72"/>
          <p:cNvSpPr txBox="1"/>
          <p:nvPr>
            <p:ph idx="1" type="body"/>
          </p:nvPr>
        </p:nvSpPr>
        <p:spPr>
          <a:xfrm>
            <a:off x="8265695" y="3413499"/>
            <a:ext cx="2819925"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60"/>
              </a:spcBef>
              <a:spcAft>
                <a:spcPts val="0"/>
              </a:spcAft>
              <a:buClr>
                <a:schemeClr val="dk1"/>
              </a:buClr>
              <a:buSzPts val="2800"/>
              <a:buNone/>
              <a:defRPr sz="28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7" name="Google Shape;137;p72"/>
          <p:cNvSpPr txBox="1"/>
          <p:nvPr>
            <p:ph idx="2" type="body"/>
          </p:nvPr>
        </p:nvSpPr>
        <p:spPr>
          <a:xfrm>
            <a:off x="4684449" y="3413462"/>
            <a:ext cx="2819925"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60"/>
              </a:spcBef>
              <a:spcAft>
                <a:spcPts val="0"/>
              </a:spcAft>
              <a:buClr>
                <a:schemeClr val="dk1"/>
              </a:buClr>
              <a:buSzPts val="2800"/>
              <a:buNone/>
              <a:defRPr sz="28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8" name="Google Shape;138;p72"/>
          <p:cNvSpPr txBox="1"/>
          <p:nvPr>
            <p:ph idx="3" type="body"/>
          </p:nvPr>
        </p:nvSpPr>
        <p:spPr>
          <a:xfrm>
            <a:off x="1144358" y="3413461"/>
            <a:ext cx="2819925"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560"/>
              </a:spcBef>
              <a:spcAft>
                <a:spcPts val="0"/>
              </a:spcAft>
              <a:buClr>
                <a:schemeClr val="dk1"/>
              </a:buClr>
              <a:buSzPts val="2800"/>
              <a:buNone/>
              <a:defRPr sz="28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Objectives">
  <p:cSld name="2 Objectives">
    <p:spTree>
      <p:nvGrpSpPr>
        <p:cNvPr id="139" name="Shape 139"/>
        <p:cNvGrpSpPr/>
        <p:nvPr/>
      </p:nvGrpSpPr>
      <p:grpSpPr>
        <a:xfrm>
          <a:off x="0" y="0"/>
          <a:ext cx="0" cy="0"/>
          <a:chOff x="0" y="0"/>
          <a:chExt cx="0" cy="0"/>
        </a:xfrm>
      </p:grpSpPr>
      <p:sp>
        <p:nvSpPr>
          <p:cNvPr id="140" name="Google Shape;140;p73"/>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141" name="Google Shape;141;p73"/>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42" name="Google Shape;142;p73"/>
          <p:cNvSpPr/>
          <p:nvPr/>
        </p:nvSpPr>
        <p:spPr>
          <a:xfrm>
            <a:off x="887377" y="2810297"/>
            <a:ext cx="5071210" cy="3315602"/>
          </a:xfrm>
          <a:prstGeom prst="rect">
            <a:avLst/>
          </a:prstGeom>
          <a:no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73"/>
          <p:cNvSpPr/>
          <p:nvPr/>
        </p:nvSpPr>
        <p:spPr>
          <a:xfrm>
            <a:off x="6219544" y="2810297"/>
            <a:ext cx="5071211" cy="3315602"/>
          </a:xfrm>
          <a:prstGeom prst="rect">
            <a:avLst/>
          </a:prstGeom>
          <a:no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73"/>
          <p:cNvSpPr/>
          <p:nvPr/>
        </p:nvSpPr>
        <p:spPr>
          <a:xfrm>
            <a:off x="8368455" y="2436105"/>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2</a:t>
            </a:r>
            <a:endParaRPr b="0" i="0" sz="1400" u="none" cap="none" strike="noStrike">
              <a:solidFill>
                <a:srgbClr val="000000"/>
              </a:solidFill>
              <a:latin typeface="Arial"/>
              <a:ea typeface="Arial"/>
              <a:cs typeface="Arial"/>
              <a:sym typeface="Arial"/>
            </a:endParaRPr>
          </a:p>
        </p:txBody>
      </p:sp>
      <p:sp>
        <p:nvSpPr>
          <p:cNvPr id="145" name="Google Shape;145;p73"/>
          <p:cNvSpPr/>
          <p:nvPr/>
        </p:nvSpPr>
        <p:spPr>
          <a:xfrm>
            <a:off x="3086629" y="2436105"/>
            <a:ext cx="733742" cy="733742"/>
          </a:xfrm>
          <a:prstGeom prst="ellipse">
            <a:avLst/>
          </a:prstGeom>
          <a:solidFill>
            <a:srgbClr val="DC4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mpact"/>
                <a:ea typeface="Impact"/>
                <a:cs typeface="Impact"/>
                <a:sym typeface="Impact"/>
              </a:rPr>
              <a:t>1</a:t>
            </a:r>
            <a:endParaRPr b="0" i="0" sz="1400" u="none" cap="none" strike="noStrike">
              <a:solidFill>
                <a:srgbClr val="000000"/>
              </a:solidFill>
              <a:latin typeface="Arial"/>
              <a:ea typeface="Arial"/>
              <a:cs typeface="Arial"/>
              <a:sym typeface="Arial"/>
            </a:endParaRPr>
          </a:p>
        </p:txBody>
      </p:sp>
      <p:sp>
        <p:nvSpPr>
          <p:cNvPr id="146" name="Google Shape;146;p73"/>
          <p:cNvSpPr txBox="1"/>
          <p:nvPr>
            <p:ph idx="1" type="body"/>
          </p:nvPr>
        </p:nvSpPr>
        <p:spPr>
          <a:xfrm>
            <a:off x="1134865" y="3400298"/>
            <a:ext cx="4576234"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40"/>
              </a:spcBef>
              <a:spcAft>
                <a:spcPts val="0"/>
              </a:spcAft>
              <a:buClr>
                <a:schemeClr val="dk1"/>
              </a:buClr>
              <a:buSzPts val="3200"/>
              <a:buNone/>
              <a:defRPr sz="3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p73"/>
          <p:cNvSpPr txBox="1"/>
          <p:nvPr>
            <p:ph idx="2" type="body"/>
          </p:nvPr>
        </p:nvSpPr>
        <p:spPr>
          <a:xfrm>
            <a:off x="6467032" y="3400299"/>
            <a:ext cx="4576234" cy="24812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40"/>
              </a:spcBef>
              <a:spcAft>
                <a:spcPts val="0"/>
              </a:spcAft>
              <a:buClr>
                <a:schemeClr val="dk1"/>
              </a:buClr>
              <a:buSzPts val="3200"/>
              <a:buNone/>
              <a:defRPr sz="32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Bars">
  <p:cSld name="Title and 2 Content Bars">
    <p:spTree>
      <p:nvGrpSpPr>
        <p:cNvPr id="148" name="Shape 148"/>
        <p:cNvGrpSpPr/>
        <p:nvPr/>
      </p:nvGrpSpPr>
      <p:grpSpPr>
        <a:xfrm>
          <a:off x="0" y="0"/>
          <a:ext cx="0" cy="0"/>
          <a:chOff x="0" y="0"/>
          <a:chExt cx="0" cy="0"/>
        </a:xfrm>
      </p:grpSpPr>
      <p:sp>
        <p:nvSpPr>
          <p:cNvPr id="149" name="Google Shape;149;p74"/>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74"/>
          <p:cNvSpPr txBox="1"/>
          <p:nvPr>
            <p:ph idx="1" type="body"/>
          </p:nvPr>
        </p:nvSpPr>
        <p:spPr>
          <a:xfrm>
            <a:off x="912979"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51" name="Google Shape;151;p74"/>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52" name="Google Shape;152;p74"/>
          <p:cNvSpPr txBox="1"/>
          <p:nvPr>
            <p:ph idx="2" type="body"/>
          </p:nvPr>
        </p:nvSpPr>
        <p:spPr>
          <a:xfrm>
            <a:off x="6241448"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Bars with pattern - luminance">
  <p:cSld name="Title and 2 Content Bars with pattern - luminance">
    <p:spTree>
      <p:nvGrpSpPr>
        <p:cNvPr id="153" name="Shape 153"/>
        <p:cNvGrpSpPr/>
        <p:nvPr/>
      </p:nvGrpSpPr>
      <p:grpSpPr>
        <a:xfrm>
          <a:off x="0" y="0"/>
          <a:ext cx="0" cy="0"/>
          <a:chOff x="0" y="0"/>
          <a:chExt cx="0" cy="0"/>
        </a:xfrm>
      </p:grpSpPr>
      <p:sp>
        <p:nvSpPr>
          <p:cNvPr id="154" name="Google Shape;154;p75"/>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75"/>
          <p:cNvSpPr txBox="1"/>
          <p:nvPr>
            <p:ph idx="1" type="body"/>
          </p:nvPr>
        </p:nvSpPr>
        <p:spPr>
          <a:xfrm>
            <a:off x="912979"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56" name="Google Shape;156;p75"/>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57" name="Google Shape;157;p75"/>
          <p:cNvSpPr txBox="1"/>
          <p:nvPr>
            <p:ph idx="2" type="body"/>
          </p:nvPr>
        </p:nvSpPr>
        <p:spPr>
          <a:xfrm>
            <a:off x="6241448"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58" name="Google Shape;158;p75"/>
          <p:cNvPicPr preferRelativeResize="0"/>
          <p:nvPr/>
        </p:nvPicPr>
        <p:blipFill rotWithShape="1">
          <a:blip r:embed="rId3">
            <a:alphaModFix/>
          </a:blip>
          <a:srcRect b="44752" l="0" r="0" t="44752"/>
          <a:stretch/>
        </p:blipFill>
        <p:spPr>
          <a:xfrm>
            <a:off x="197324" y="5730072"/>
            <a:ext cx="11794176" cy="99140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Bars with pattern - Seafoam">
  <p:cSld name="Title and 2 Content Bars with pattern - Seafoam">
    <p:spTree>
      <p:nvGrpSpPr>
        <p:cNvPr id="159" name="Shape 159"/>
        <p:cNvGrpSpPr/>
        <p:nvPr/>
      </p:nvGrpSpPr>
      <p:grpSpPr>
        <a:xfrm>
          <a:off x="0" y="0"/>
          <a:ext cx="0" cy="0"/>
          <a:chOff x="0" y="0"/>
          <a:chExt cx="0" cy="0"/>
        </a:xfrm>
      </p:grpSpPr>
      <p:pic>
        <p:nvPicPr>
          <p:cNvPr id="160" name="Google Shape;160;p76"/>
          <p:cNvPicPr preferRelativeResize="0"/>
          <p:nvPr/>
        </p:nvPicPr>
        <p:blipFill rotWithShape="1">
          <a:blip r:embed="rId2">
            <a:alphaModFix/>
          </a:blip>
          <a:srcRect b="44752" l="0" r="0" t="44752"/>
          <a:stretch/>
        </p:blipFill>
        <p:spPr>
          <a:xfrm>
            <a:off x="197324" y="5730072"/>
            <a:ext cx="11794176" cy="991404"/>
          </a:xfrm>
          <a:prstGeom prst="rect">
            <a:avLst/>
          </a:prstGeom>
          <a:noFill/>
          <a:ln>
            <a:noFill/>
          </a:ln>
        </p:spPr>
      </p:pic>
      <p:sp>
        <p:nvSpPr>
          <p:cNvPr id="161" name="Google Shape;161;p76"/>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76"/>
          <p:cNvSpPr txBox="1"/>
          <p:nvPr>
            <p:ph idx="1" type="body"/>
          </p:nvPr>
        </p:nvSpPr>
        <p:spPr>
          <a:xfrm>
            <a:off x="912979"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63" name="Google Shape;163;p76"/>
          <p:cNvPicPr preferRelativeResize="0"/>
          <p:nvPr/>
        </p:nvPicPr>
        <p:blipFill rotWithShape="1">
          <a:blip r:embed="rId3">
            <a:alphaModFix/>
          </a:blip>
          <a:srcRect b="0" l="0" r="0" t="0"/>
          <a:stretch/>
        </p:blipFill>
        <p:spPr>
          <a:xfrm>
            <a:off x="8485643" y="324700"/>
            <a:ext cx="2805112" cy="802297"/>
          </a:xfrm>
          <a:prstGeom prst="rect">
            <a:avLst/>
          </a:prstGeom>
          <a:noFill/>
          <a:ln>
            <a:noFill/>
          </a:ln>
        </p:spPr>
      </p:pic>
      <p:sp>
        <p:nvSpPr>
          <p:cNvPr id="164" name="Google Shape;164;p76"/>
          <p:cNvSpPr txBox="1"/>
          <p:nvPr>
            <p:ph idx="2" type="body"/>
          </p:nvPr>
        </p:nvSpPr>
        <p:spPr>
          <a:xfrm>
            <a:off x="6241448"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Bars with pattern - hop bine">
  <p:cSld name="Title and 2 Content Bars with pattern - hop bine">
    <p:spTree>
      <p:nvGrpSpPr>
        <p:cNvPr id="165" name="Shape 165"/>
        <p:cNvGrpSpPr/>
        <p:nvPr/>
      </p:nvGrpSpPr>
      <p:grpSpPr>
        <a:xfrm>
          <a:off x="0" y="0"/>
          <a:ext cx="0" cy="0"/>
          <a:chOff x="0" y="0"/>
          <a:chExt cx="0" cy="0"/>
        </a:xfrm>
      </p:grpSpPr>
      <p:sp>
        <p:nvSpPr>
          <p:cNvPr id="166" name="Google Shape;166;p77"/>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77"/>
          <p:cNvSpPr txBox="1"/>
          <p:nvPr>
            <p:ph idx="1" type="body"/>
          </p:nvPr>
        </p:nvSpPr>
        <p:spPr>
          <a:xfrm>
            <a:off x="912979"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68" name="Google Shape;168;p77"/>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69" name="Google Shape;169;p77"/>
          <p:cNvSpPr txBox="1"/>
          <p:nvPr>
            <p:ph idx="2" type="body"/>
          </p:nvPr>
        </p:nvSpPr>
        <p:spPr>
          <a:xfrm>
            <a:off x="6241448"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70" name="Google Shape;170;p77"/>
          <p:cNvPicPr preferRelativeResize="0"/>
          <p:nvPr/>
        </p:nvPicPr>
        <p:blipFill rotWithShape="1">
          <a:blip r:embed="rId3">
            <a:alphaModFix/>
          </a:blip>
          <a:srcRect b="38484" l="0" r="0" t="47480"/>
          <a:stretch/>
        </p:blipFill>
        <p:spPr>
          <a:xfrm>
            <a:off x="197324" y="5730072"/>
            <a:ext cx="11794176" cy="991404"/>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Bars with pattern - moondust triangles">
  <p:cSld name="Title and 2 Content Bars with pattern - moondust triangles">
    <p:spTree>
      <p:nvGrpSpPr>
        <p:cNvPr id="171" name="Shape 171"/>
        <p:cNvGrpSpPr/>
        <p:nvPr/>
      </p:nvGrpSpPr>
      <p:grpSpPr>
        <a:xfrm>
          <a:off x="0" y="0"/>
          <a:ext cx="0" cy="0"/>
          <a:chOff x="0" y="0"/>
          <a:chExt cx="0" cy="0"/>
        </a:xfrm>
      </p:grpSpPr>
      <p:sp>
        <p:nvSpPr>
          <p:cNvPr id="172" name="Google Shape;172;p78"/>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78"/>
          <p:cNvSpPr txBox="1"/>
          <p:nvPr>
            <p:ph idx="1" type="body"/>
          </p:nvPr>
        </p:nvSpPr>
        <p:spPr>
          <a:xfrm>
            <a:off x="912979"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74" name="Google Shape;174;p78"/>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75" name="Google Shape;175;p78"/>
          <p:cNvSpPr txBox="1"/>
          <p:nvPr>
            <p:ph idx="2" type="body"/>
          </p:nvPr>
        </p:nvSpPr>
        <p:spPr>
          <a:xfrm>
            <a:off x="6241448"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76" name="Google Shape;176;p78"/>
          <p:cNvPicPr preferRelativeResize="0"/>
          <p:nvPr/>
        </p:nvPicPr>
        <p:blipFill rotWithShape="1">
          <a:blip r:embed="rId3">
            <a:alphaModFix/>
          </a:blip>
          <a:srcRect b="43377" l="0" r="0" t="43377"/>
          <a:stretch/>
        </p:blipFill>
        <p:spPr>
          <a:xfrm>
            <a:off x="197324" y="5730072"/>
            <a:ext cx="11794176" cy="991404"/>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Bars with pattern - moondust">
  <p:cSld name="Title and 2 Content Bars with pattern - moondust">
    <p:spTree>
      <p:nvGrpSpPr>
        <p:cNvPr id="177" name="Shape 177"/>
        <p:cNvGrpSpPr/>
        <p:nvPr/>
      </p:nvGrpSpPr>
      <p:grpSpPr>
        <a:xfrm>
          <a:off x="0" y="0"/>
          <a:ext cx="0" cy="0"/>
          <a:chOff x="0" y="0"/>
          <a:chExt cx="0" cy="0"/>
        </a:xfrm>
      </p:grpSpPr>
      <p:sp>
        <p:nvSpPr>
          <p:cNvPr id="178" name="Google Shape;178;p79"/>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79"/>
          <p:cNvSpPr txBox="1"/>
          <p:nvPr>
            <p:ph idx="1" type="body"/>
          </p:nvPr>
        </p:nvSpPr>
        <p:spPr>
          <a:xfrm>
            <a:off x="912979"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180" name="Google Shape;180;p79"/>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81" name="Google Shape;181;p79"/>
          <p:cNvSpPr txBox="1"/>
          <p:nvPr>
            <p:ph idx="2" type="body"/>
          </p:nvPr>
        </p:nvSpPr>
        <p:spPr>
          <a:xfrm>
            <a:off x="6241448" y="2443959"/>
            <a:ext cx="5030621" cy="316319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82" name="Google Shape;182;p79"/>
          <p:cNvPicPr preferRelativeResize="0"/>
          <p:nvPr/>
        </p:nvPicPr>
        <p:blipFill rotWithShape="1">
          <a:blip r:embed="rId3">
            <a:alphaModFix/>
          </a:blip>
          <a:srcRect b="78922" l="-20613" r="20613" t="-102"/>
          <a:stretch/>
        </p:blipFill>
        <p:spPr>
          <a:xfrm>
            <a:off x="6912863" y="5603692"/>
            <a:ext cx="5275961" cy="125430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2 Images">
  <p:cSld name="Title with 2 Images">
    <p:spTree>
      <p:nvGrpSpPr>
        <p:cNvPr id="183" name="Shape 183"/>
        <p:cNvGrpSpPr/>
        <p:nvPr/>
      </p:nvGrpSpPr>
      <p:grpSpPr>
        <a:xfrm>
          <a:off x="0" y="0"/>
          <a:ext cx="0" cy="0"/>
          <a:chOff x="0" y="0"/>
          <a:chExt cx="0" cy="0"/>
        </a:xfrm>
      </p:grpSpPr>
      <p:sp>
        <p:nvSpPr>
          <p:cNvPr id="184" name="Google Shape;184;p80"/>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185" name="Google Shape;185;p80"/>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86" name="Google Shape;186;p80"/>
          <p:cNvSpPr/>
          <p:nvPr>
            <p:ph idx="2" type="pic"/>
          </p:nvPr>
        </p:nvSpPr>
        <p:spPr>
          <a:xfrm>
            <a:off x="912978" y="2463610"/>
            <a:ext cx="5033962" cy="3557588"/>
          </a:xfrm>
          <a:prstGeom prst="rect">
            <a:avLst/>
          </a:prstGeom>
          <a:noFill/>
          <a:ln>
            <a:noFill/>
          </a:ln>
        </p:spPr>
      </p:sp>
      <p:sp>
        <p:nvSpPr>
          <p:cNvPr id="187" name="Google Shape;187;p80"/>
          <p:cNvSpPr/>
          <p:nvPr>
            <p:ph idx="3" type="pic"/>
          </p:nvPr>
        </p:nvSpPr>
        <p:spPr>
          <a:xfrm>
            <a:off x="6241885" y="2463610"/>
            <a:ext cx="5033962" cy="3557588"/>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2 Images and pattern - luminance">
  <p:cSld name="Title with 2 Images and pattern - luminance">
    <p:spTree>
      <p:nvGrpSpPr>
        <p:cNvPr id="188" name="Shape 188"/>
        <p:cNvGrpSpPr/>
        <p:nvPr/>
      </p:nvGrpSpPr>
      <p:grpSpPr>
        <a:xfrm>
          <a:off x="0" y="0"/>
          <a:ext cx="0" cy="0"/>
          <a:chOff x="0" y="0"/>
          <a:chExt cx="0" cy="0"/>
        </a:xfrm>
      </p:grpSpPr>
      <p:sp>
        <p:nvSpPr>
          <p:cNvPr id="189" name="Google Shape;189;p81"/>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190" name="Google Shape;190;p81"/>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91" name="Google Shape;191;p81"/>
          <p:cNvSpPr/>
          <p:nvPr>
            <p:ph idx="2" type="pic"/>
          </p:nvPr>
        </p:nvSpPr>
        <p:spPr>
          <a:xfrm>
            <a:off x="912978" y="2463610"/>
            <a:ext cx="5033962" cy="3557588"/>
          </a:xfrm>
          <a:prstGeom prst="rect">
            <a:avLst/>
          </a:prstGeom>
          <a:noFill/>
          <a:ln>
            <a:noFill/>
          </a:ln>
        </p:spPr>
      </p:sp>
      <p:sp>
        <p:nvSpPr>
          <p:cNvPr id="192" name="Google Shape;192;p81"/>
          <p:cNvSpPr/>
          <p:nvPr>
            <p:ph idx="3" type="pic"/>
          </p:nvPr>
        </p:nvSpPr>
        <p:spPr>
          <a:xfrm>
            <a:off x="6241885" y="2463610"/>
            <a:ext cx="5033962" cy="3557588"/>
          </a:xfrm>
          <a:prstGeom prst="rect">
            <a:avLst/>
          </a:prstGeom>
          <a:noFill/>
          <a:ln>
            <a:noFill/>
          </a:ln>
        </p:spPr>
      </p:sp>
      <p:pic>
        <p:nvPicPr>
          <p:cNvPr id="193" name="Google Shape;193;p81"/>
          <p:cNvPicPr preferRelativeResize="0"/>
          <p:nvPr/>
        </p:nvPicPr>
        <p:blipFill rotWithShape="1">
          <a:blip r:embed="rId3">
            <a:alphaModFix/>
          </a:blip>
          <a:srcRect b="45000" l="0" r="0" t="50000"/>
          <a:stretch/>
        </p:blipFill>
        <p:spPr>
          <a:xfrm>
            <a:off x="197324" y="6126165"/>
            <a:ext cx="11794176" cy="47239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2 Images and pattern - seafoam">
  <p:cSld name="Title with 2 Images and pattern - seafoam">
    <p:spTree>
      <p:nvGrpSpPr>
        <p:cNvPr id="194" name="Shape 194"/>
        <p:cNvGrpSpPr/>
        <p:nvPr/>
      </p:nvGrpSpPr>
      <p:grpSpPr>
        <a:xfrm>
          <a:off x="0" y="0"/>
          <a:ext cx="0" cy="0"/>
          <a:chOff x="0" y="0"/>
          <a:chExt cx="0" cy="0"/>
        </a:xfrm>
      </p:grpSpPr>
      <p:sp>
        <p:nvSpPr>
          <p:cNvPr id="195" name="Google Shape;195;p82"/>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196" name="Google Shape;196;p82"/>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197" name="Google Shape;197;p82"/>
          <p:cNvSpPr/>
          <p:nvPr>
            <p:ph idx="2" type="pic"/>
          </p:nvPr>
        </p:nvSpPr>
        <p:spPr>
          <a:xfrm>
            <a:off x="912978" y="2463610"/>
            <a:ext cx="5033962" cy="3557588"/>
          </a:xfrm>
          <a:prstGeom prst="rect">
            <a:avLst/>
          </a:prstGeom>
          <a:noFill/>
          <a:ln>
            <a:noFill/>
          </a:ln>
        </p:spPr>
      </p:sp>
      <p:sp>
        <p:nvSpPr>
          <p:cNvPr id="198" name="Google Shape;198;p82"/>
          <p:cNvSpPr/>
          <p:nvPr>
            <p:ph idx="3" type="pic"/>
          </p:nvPr>
        </p:nvSpPr>
        <p:spPr>
          <a:xfrm>
            <a:off x="6241885" y="2463610"/>
            <a:ext cx="5033962" cy="3557588"/>
          </a:xfrm>
          <a:prstGeom prst="rect">
            <a:avLst/>
          </a:prstGeom>
          <a:noFill/>
          <a:ln>
            <a:noFill/>
          </a:ln>
        </p:spPr>
      </p:sp>
      <p:pic>
        <p:nvPicPr>
          <p:cNvPr id="199" name="Google Shape;199;p82"/>
          <p:cNvPicPr preferRelativeResize="0"/>
          <p:nvPr/>
        </p:nvPicPr>
        <p:blipFill rotWithShape="1">
          <a:blip r:embed="rId3">
            <a:alphaModFix/>
          </a:blip>
          <a:srcRect b="45080" l="0" r="0" t="49919"/>
          <a:stretch/>
        </p:blipFill>
        <p:spPr>
          <a:xfrm>
            <a:off x="197324" y="6126165"/>
            <a:ext cx="11794176" cy="47239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2 Images and pattern - hop bine">
  <p:cSld name="Title with 2 Images and pattern - hop bine">
    <p:spTree>
      <p:nvGrpSpPr>
        <p:cNvPr id="200" name="Shape 200"/>
        <p:cNvGrpSpPr/>
        <p:nvPr/>
      </p:nvGrpSpPr>
      <p:grpSpPr>
        <a:xfrm>
          <a:off x="0" y="0"/>
          <a:ext cx="0" cy="0"/>
          <a:chOff x="0" y="0"/>
          <a:chExt cx="0" cy="0"/>
        </a:xfrm>
      </p:grpSpPr>
      <p:sp>
        <p:nvSpPr>
          <p:cNvPr id="201" name="Google Shape;201;p83"/>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202" name="Google Shape;202;p83"/>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03" name="Google Shape;203;p83"/>
          <p:cNvSpPr/>
          <p:nvPr>
            <p:ph idx="2" type="pic"/>
          </p:nvPr>
        </p:nvSpPr>
        <p:spPr>
          <a:xfrm>
            <a:off x="912978" y="2463610"/>
            <a:ext cx="5033962" cy="3557588"/>
          </a:xfrm>
          <a:prstGeom prst="rect">
            <a:avLst/>
          </a:prstGeom>
          <a:noFill/>
          <a:ln>
            <a:noFill/>
          </a:ln>
        </p:spPr>
      </p:sp>
      <p:sp>
        <p:nvSpPr>
          <p:cNvPr id="204" name="Google Shape;204;p83"/>
          <p:cNvSpPr/>
          <p:nvPr>
            <p:ph idx="3" type="pic"/>
          </p:nvPr>
        </p:nvSpPr>
        <p:spPr>
          <a:xfrm>
            <a:off x="6241885" y="2463610"/>
            <a:ext cx="5033962" cy="3557588"/>
          </a:xfrm>
          <a:prstGeom prst="rect">
            <a:avLst/>
          </a:prstGeom>
          <a:noFill/>
          <a:ln>
            <a:noFill/>
          </a:ln>
        </p:spPr>
      </p:sp>
      <p:pic>
        <p:nvPicPr>
          <p:cNvPr id="205" name="Google Shape;205;p83"/>
          <p:cNvPicPr preferRelativeResize="0"/>
          <p:nvPr/>
        </p:nvPicPr>
        <p:blipFill rotWithShape="1">
          <a:blip r:embed="rId3">
            <a:alphaModFix/>
          </a:blip>
          <a:srcRect b="46656" l="0" r="0" t="46655"/>
          <a:stretch/>
        </p:blipFill>
        <p:spPr>
          <a:xfrm>
            <a:off x="197324" y="6239731"/>
            <a:ext cx="11794176" cy="472394"/>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2 Images and pattern - moondust">
  <p:cSld name="Title with 2 Images and pattern - moondust">
    <p:spTree>
      <p:nvGrpSpPr>
        <p:cNvPr id="206" name="Shape 206"/>
        <p:cNvGrpSpPr/>
        <p:nvPr/>
      </p:nvGrpSpPr>
      <p:grpSpPr>
        <a:xfrm>
          <a:off x="0" y="0"/>
          <a:ext cx="0" cy="0"/>
          <a:chOff x="0" y="0"/>
          <a:chExt cx="0" cy="0"/>
        </a:xfrm>
      </p:grpSpPr>
      <p:sp>
        <p:nvSpPr>
          <p:cNvPr id="207" name="Google Shape;207;p84"/>
          <p:cNvSpPr txBox="1"/>
          <p:nvPr>
            <p:ph type="title"/>
          </p:nvPr>
        </p:nvSpPr>
        <p:spPr>
          <a:xfrm>
            <a:off x="912979" y="1250845"/>
            <a:ext cx="10362867"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OSU_COE_horizontal_2C_O_over_B.eps" id="208" name="Google Shape;208;p84"/>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09" name="Google Shape;209;p84"/>
          <p:cNvSpPr/>
          <p:nvPr>
            <p:ph idx="2" type="pic"/>
          </p:nvPr>
        </p:nvSpPr>
        <p:spPr>
          <a:xfrm>
            <a:off x="912978" y="2463610"/>
            <a:ext cx="5033962" cy="3557588"/>
          </a:xfrm>
          <a:prstGeom prst="rect">
            <a:avLst/>
          </a:prstGeom>
          <a:noFill/>
          <a:ln>
            <a:noFill/>
          </a:ln>
        </p:spPr>
      </p:sp>
      <p:sp>
        <p:nvSpPr>
          <p:cNvPr id="210" name="Google Shape;210;p84"/>
          <p:cNvSpPr/>
          <p:nvPr>
            <p:ph idx="3" type="pic"/>
          </p:nvPr>
        </p:nvSpPr>
        <p:spPr>
          <a:xfrm>
            <a:off x="6241885" y="2463610"/>
            <a:ext cx="5033962" cy="3557588"/>
          </a:xfrm>
          <a:prstGeom prst="rect">
            <a:avLst/>
          </a:prstGeom>
          <a:noFill/>
          <a:ln>
            <a:noFill/>
          </a:ln>
        </p:spPr>
      </p:sp>
      <p:pic>
        <p:nvPicPr>
          <p:cNvPr id="211" name="Google Shape;211;p84"/>
          <p:cNvPicPr preferRelativeResize="0"/>
          <p:nvPr/>
        </p:nvPicPr>
        <p:blipFill rotWithShape="1">
          <a:blip r:embed="rId3">
            <a:alphaModFix/>
          </a:blip>
          <a:srcRect b="44487" l="0" r="0" t="49201"/>
          <a:stretch/>
        </p:blipFill>
        <p:spPr>
          <a:xfrm>
            <a:off x="197324" y="6126165"/>
            <a:ext cx="11794176" cy="472394"/>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uble Title and Content">
  <p:cSld name="Double Title and Content">
    <p:spTree>
      <p:nvGrpSpPr>
        <p:cNvPr id="212" name="Shape 212"/>
        <p:cNvGrpSpPr/>
        <p:nvPr/>
      </p:nvGrpSpPr>
      <p:grpSpPr>
        <a:xfrm>
          <a:off x="0" y="0"/>
          <a:ext cx="0" cy="0"/>
          <a:chOff x="0" y="0"/>
          <a:chExt cx="0" cy="0"/>
        </a:xfrm>
      </p:grpSpPr>
      <p:sp>
        <p:nvSpPr>
          <p:cNvPr id="213" name="Google Shape;213;p85"/>
          <p:cNvSpPr txBox="1"/>
          <p:nvPr>
            <p:ph idx="1" type="body"/>
          </p:nvPr>
        </p:nvSpPr>
        <p:spPr>
          <a:xfrm>
            <a:off x="912979"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14" name="Google Shape;214;p85"/>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15" name="Google Shape;215;p85"/>
          <p:cNvSpPr txBox="1"/>
          <p:nvPr>
            <p:ph idx="2" type="body"/>
          </p:nvPr>
        </p:nvSpPr>
        <p:spPr>
          <a:xfrm>
            <a:off x="6241448"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6" name="Google Shape;216;p85"/>
          <p:cNvSpPr txBox="1"/>
          <p:nvPr>
            <p:ph type="title"/>
          </p:nvPr>
        </p:nvSpPr>
        <p:spPr>
          <a:xfrm>
            <a:off x="912979" y="1250845"/>
            <a:ext cx="5030621"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85"/>
          <p:cNvSpPr txBox="1"/>
          <p:nvPr>
            <p:ph idx="3" type="body"/>
          </p:nvPr>
        </p:nvSpPr>
        <p:spPr>
          <a:xfrm>
            <a:off x="6242049" y="1250845"/>
            <a:ext cx="5048705" cy="1193113"/>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880"/>
              </a:spcBef>
              <a:spcAft>
                <a:spcPts val="0"/>
              </a:spcAft>
              <a:buClr>
                <a:srgbClr val="DC4400"/>
              </a:buClr>
              <a:buSzPts val="4400"/>
              <a:buNone/>
              <a:defRPr b="1" sz="4400">
                <a:solidFill>
                  <a:srgbClr val="DC4400"/>
                </a:solidFill>
                <a:latin typeface="Impact"/>
                <a:ea typeface="Impact"/>
                <a:cs typeface="Impact"/>
                <a:sym typeface="Impact"/>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quare Image 1">
  <p:cSld name="Title and Content with Square Image 1">
    <p:spTree>
      <p:nvGrpSpPr>
        <p:cNvPr id="218" name="Shape 218"/>
        <p:cNvGrpSpPr/>
        <p:nvPr/>
      </p:nvGrpSpPr>
      <p:grpSpPr>
        <a:xfrm>
          <a:off x="0" y="0"/>
          <a:ext cx="0" cy="0"/>
          <a:chOff x="0" y="0"/>
          <a:chExt cx="0" cy="0"/>
        </a:xfrm>
      </p:grpSpPr>
      <p:pic>
        <p:nvPicPr>
          <p:cNvPr descr="OSU_COE_horizontal_2C_O_over_B.eps" id="219" name="Google Shape;219;p86"/>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20" name="Google Shape;220;p86"/>
          <p:cNvSpPr/>
          <p:nvPr>
            <p:ph idx="2" type="pic"/>
          </p:nvPr>
        </p:nvSpPr>
        <p:spPr>
          <a:xfrm>
            <a:off x="897903" y="1251639"/>
            <a:ext cx="4873752" cy="4875320"/>
          </a:xfrm>
          <a:prstGeom prst="rect">
            <a:avLst/>
          </a:prstGeom>
          <a:noFill/>
          <a:ln>
            <a:noFill/>
          </a:ln>
        </p:spPr>
      </p:sp>
      <p:sp>
        <p:nvSpPr>
          <p:cNvPr id="221" name="Google Shape;221;p86"/>
          <p:cNvSpPr txBox="1"/>
          <p:nvPr>
            <p:ph idx="1" type="body"/>
          </p:nvPr>
        </p:nvSpPr>
        <p:spPr>
          <a:xfrm>
            <a:off x="6242049" y="1250845"/>
            <a:ext cx="5048705" cy="1193113"/>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880"/>
              </a:spcBef>
              <a:spcAft>
                <a:spcPts val="0"/>
              </a:spcAft>
              <a:buClr>
                <a:srgbClr val="DC4400"/>
              </a:buClr>
              <a:buSzPts val="4400"/>
              <a:buNone/>
              <a:defRPr b="1" sz="4400">
                <a:solidFill>
                  <a:srgbClr val="DC4400"/>
                </a:solidFill>
                <a:latin typeface="Impact"/>
                <a:ea typeface="Impact"/>
                <a:cs typeface="Impact"/>
                <a:sym typeface="Impact"/>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2" name="Google Shape;222;p86"/>
          <p:cNvSpPr txBox="1"/>
          <p:nvPr>
            <p:ph idx="3" type="body"/>
          </p:nvPr>
        </p:nvSpPr>
        <p:spPr>
          <a:xfrm>
            <a:off x="6241448"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Horizontal Image 1">
  <p:cSld name="Title and Content with Horizontal Image 1">
    <p:spTree>
      <p:nvGrpSpPr>
        <p:cNvPr id="223" name="Shape 223"/>
        <p:cNvGrpSpPr/>
        <p:nvPr/>
      </p:nvGrpSpPr>
      <p:grpSpPr>
        <a:xfrm>
          <a:off x="0" y="0"/>
          <a:ext cx="0" cy="0"/>
          <a:chOff x="0" y="0"/>
          <a:chExt cx="0" cy="0"/>
        </a:xfrm>
      </p:grpSpPr>
      <p:pic>
        <p:nvPicPr>
          <p:cNvPr descr="OSU_COE_horizontal_2C_O_over_B.eps" id="224" name="Google Shape;224;p87"/>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25" name="Google Shape;225;p87"/>
          <p:cNvSpPr/>
          <p:nvPr>
            <p:ph idx="2" type="pic"/>
          </p:nvPr>
        </p:nvSpPr>
        <p:spPr>
          <a:xfrm>
            <a:off x="898070" y="1752126"/>
            <a:ext cx="5030621" cy="3353747"/>
          </a:xfrm>
          <a:prstGeom prst="rect">
            <a:avLst/>
          </a:prstGeom>
          <a:noFill/>
          <a:ln>
            <a:noFill/>
          </a:ln>
        </p:spPr>
      </p:sp>
      <p:sp>
        <p:nvSpPr>
          <p:cNvPr id="226" name="Google Shape;226;p87"/>
          <p:cNvSpPr txBox="1"/>
          <p:nvPr>
            <p:ph idx="1" type="body"/>
          </p:nvPr>
        </p:nvSpPr>
        <p:spPr>
          <a:xfrm>
            <a:off x="6242049" y="1250845"/>
            <a:ext cx="5048705" cy="1193113"/>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880"/>
              </a:spcBef>
              <a:spcAft>
                <a:spcPts val="0"/>
              </a:spcAft>
              <a:buClr>
                <a:srgbClr val="DC4400"/>
              </a:buClr>
              <a:buSzPts val="4400"/>
              <a:buNone/>
              <a:defRPr b="1" sz="4400">
                <a:solidFill>
                  <a:srgbClr val="DC4400"/>
                </a:solidFill>
                <a:latin typeface="Impact"/>
                <a:ea typeface="Impact"/>
                <a:cs typeface="Impact"/>
                <a:sym typeface="Impact"/>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7" name="Google Shape;227;p87"/>
          <p:cNvSpPr txBox="1"/>
          <p:nvPr>
            <p:ph idx="3" type="body"/>
          </p:nvPr>
        </p:nvSpPr>
        <p:spPr>
          <a:xfrm>
            <a:off x="6241448"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Vertical Image 1">
  <p:cSld name="Title and Content with Vertical Image 1">
    <p:spTree>
      <p:nvGrpSpPr>
        <p:cNvPr id="228" name="Shape 228"/>
        <p:cNvGrpSpPr/>
        <p:nvPr/>
      </p:nvGrpSpPr>
      <p:grpSpPr>
        <a:xfrm>
          <a:off x="0" y="0"/>
          <a:ext cx="0" cy="0"/>
          <a:chOff x="0" y="0"/>
          <a:chExt cx="0" cy="0"/>
        </a:xfrm>
      </p:grpSpPr>
      <p:pic>
        <p:nvPicPr>
          <p:cNvPr descr="OSU_COE_horizontal_2C_O_over_B.eps" id="229" name="Google Shape;229;p88"/>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30" name="Google Shape;230;p88"/>
          <p:cNvSpPr/>
          <p:nvPr>
            <p:ph idx="2" type="pic"/>
          </p:nvPr>
        </p:nvSpPr>
        <p:spPr>
          <a:xfrm>
            <a:off x="1238408" y="1301752"/>
            <a:ext cx="3913632" cy="4825206"/>
          </a:xfrm>
          <a:prstGeom prst="rect">
            <a:avLst/>
          </a:prstGeom>
          <a:noFill/>
          <a:ln>
            <a:noFill/>
          </a:ln>
        </p:spPr>
      </p:sp>
      <p:sp>
        <p:nvSpPr>
          <p:cNvPr id="231" name="Google Shape;231;p88"/>
          <p:cNvSpPr txBox="1"/>
          <p:nvPr>
            <p:ph idx="1" type="body"/>
          </p:nvPr>
        </p:nvSpPr>
        <p:spPr>
          <a:xfrm>
            <a:off x="6242049" y="1250845"/>
            <a:ext cx="5048705" cy="1193113"/>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880"/>
              </a:spcBef>
              <a:spcAft>
                <a:spcPts val="0"/>
              </a:spcAft>
              <a:buClr>
                <a:srgbClr val="DC4400"/>
              </a:buClr>
              <a:buSzPts val="4400"/>
              <a:buNone/>
              <a:defRPr b="1" sz="4400">
                <a:solidFill>
                  <a:srgbClr val="DC4400"/>
                </a:solidFill>
                <a:latin typeface="Impact"/>
                <a:ea typeface="Impact"/>
                <a:cs typeface="Impact"/>
                <a:sym typeface="Impact"/>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2" name="Google Shape;232;p88"/>
          <p:cNvSpPr txBox="1"/>
          <p:nvPr>
            <p:ph idx="3" type="body"/>
          </p:nvPr>
        </p:nvSpPr>
        <p:spPr>
          <a:xfrm>
            <a:off x="6241448"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3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quare Image 2">
  <p:cSld name="Title and Content with Square Image 2">
    <p:spTree>
      <p:nvGrpSpPr>
        <p:cNvPr id="233" name="Shape 233"/>
        <p:cNvGrpSpPr/>
        <p:nvPr/>
      </p:nvGrpSpPr>
      <p:grpSpPr>
        <a:xfrm>
          <a:off x="0" y="0"/>
          <a:ext cx="0" cy="0"/>
          <a:chOff x="0" y="0"/>
          <a:chExt cx="0" cy="0"/>
        </a:xfrm>
      </p:grpSpPr>
      <p:pic>
        <p:nvPicPr>
          <p:cNvPr descr="OSU_COE_horizontal_2C_O_over_B.eps" id="234" name="Google Shape;234;p89"/>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35" name="Google Shape;235;p89"/>
          <p:cNvSpPr/>
          <p:nvPr>
            <p:ph idx="2" type="pic"/>
          </p:nvPr>
        </p:nvSpPr>
        <p:spPr>
          <a:xfrm>
            <a:off x="6259967" y="1302545"/>
            <a:ext cx="4828032" cy="4824413"/>
          </a:xfrm>
          <a:prstGeom prst="rect">
            <a:avLst/>
          </a:prstGeom>
          <a:noFill/>
          <a:ln>
            <a:noFill/>
          </a:ln>
        </p:spPr>
      </p:sp>
      <p:sp>
        <p:nvSpPr>
          <p:cNvPr id="236" name="Google Shape;236;p89"/>
          <p:cNvSpPr txBox="1"/>
          <p:nvPr>
            <p:ph idx="1" type="body"/>
          </p:nvPr>
        </p:nvSpPr>
        <p:spPr>
          <a:xfrm>
            <a:off x="912979"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7" name="Google Shape;237;p89"/>
          <p:cNvSpPr txBox="1"/>
          <p:nvPr>
            <p:ph type="title"/>
          </p:nvPr>
        </p:nvSpPr>
        <p:spPr>
          <a:xfrm>
            <a:off x="912979" y="1250845"/>
            <a:ext cx="5030621"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Horizontal Image 2">
  <p:cSld name="Title and Content with Horizontal Image 2">
    <p:spTree>
      <p:nvGrpSpPr>
        <p:cNvPr id="238" name="Shape 238"/>
        <p:cNvGrpSpPr/>
        <p:nvPr/>
      </p:nvGrpSpPr>
      <p:grpSpPr>
        <a:xfrm>
          <a:off x="0" y="0"/>
          <a:ext cx="0" cy="0"/>
          <a:chOff x="0" y="0"/>
          <a:chExt cx="0" cy="0"/>
        </a:xfrm>
      </p:grpSpPr>
      <p:pic>
        <p:nvPicPr>
          <p:cNvPr descr="OSU_COE_horizontal_2C_O_over_B.eps" id="239" name="Google Shape;239;p90"/>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40" name="Google Shape;240;p90"/>
          <p:cNvSpPr/>
          <p:nvPr>
            <p:ph idx="2" type="pic"/>
          </p:nvPr>
        </p:nvSpPr>
        <p:spPr>
          <a:xfrm>
            <a:off x="6260134" y="1752126"/>
            <a:ext cx="5030621" cy="3353747"/>
          </a:xfrm>
          <a:prstGeom prst="rect">
            <a:avLst/>
          </a:prstGeom>
          <a:noFill/>
          <a:ln>
            <a:noFill/>
          </a:ln>
        </p:spPr>
      </p:sp>
      <p:sp>
        <p:nvSpPr>
          <p:cNvPr id="241" name="Google Shape;241;p90"/>
          <p:cNvSpPr txBox="1"/>
          <p:nvPr>
            <p:ph idx="1" type="body"/>
          </p:nvPr>
        </p:nvSpPr>
        <p:spPr>
          <a:xfrm>
            <a:off x="912979"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2" name="Google Shape;242;p90"/>
          <p:cNvSpPr txBox="1"/>
          <p:nvPr>
            <p:ph type="title"/>
          </p:nvPr>
        </p:nvSpPr>
        <p:spPr>
          <a:xfrm>
            <a:off x="912979" y="1250845"/>
            <a:ext cx="5030621"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Vertical Image 2">
  <p:cSld name="Title and Content with Vertical Image 2">
    <p:spTree>
      <p:nvGrpSpPr>
        <p:cNvPr id="243" name="Shape 243"/>
        <p:cNvGrpSpPr/>
        <p:nvPr/>
      </p:nvGrpSpPr>
      <p:grpSpPr>
        <a:xfrm>
          <a:off x="0" y="0"/>
          <a:ext cx="0" cy="0"/>
          <a:chOff x="0" y="0"/>
          <a:chExt cx="0" cy="0"/>
        </a:xfrm>
      </p:grpSpPr>
      <p:pic>
        <p:nvPicPr>
          <p:cNvPr descr="OSU_COE_horizontal_2C_O_over_B.eps" id="244" name="Google Shape;244;p91"/>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45" name="Google Shape;245;p91"/>
          <p:cNvSpPr/>
          <p:nvPr>
            <p:ph idx="2" type="pic"/>
          </p:nvPr>
        </p:nvSpPr>
        <p:spPr>
          <a:xfrm>
            <a:off x="7089425" y="1302545"/>
            <a:ext cx="3913632" cy="4825206"/>
          </a:xfrm>
          <a:prstGeom prst="rect">
            <a:avLst/>
          </a:prstGeom>
          <a:noFill/>
          <a:ln>
            <a:noFill/>
          </a:ln>
        </p:spPr>
      </p:sp>
      <p:sp>
        <p:nvSpPr>
          <p:cNvPr id="246" name="Google Shape;246;p91"/>
          <p:cNvSpPr txBox="1"/>
          <p:nvPr>
            <p:ph idx="1" type="body"/>
          </p:nvPr>
        </p:nvSpPr>
        <p:spPr>
          <a:xfrm>
            <a:off x="912979" y="2443959"/>
            <a:ext cx="5030621"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7" name="Google Shape;247;p91"/>
          <p:cNvSpPr txBox="1"/>
          <p:nvPr>
            <p:ph type="title"/>
          </p:nvPr>
        </p:nvSpPr>
        <p:spPr>
          <a:xfrm>
            <a:off x="912979" y="1250845"/>
            <a:ext cx="5030621"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debar pattern - luminance">
  <p:cSld name="Title and Content with sidebar pattern - luminance">
    <p:spTree>
      <p:nvGrpSpPr>
        <p:cNvPr id="248" name="Shape 248"/>
        <p:cNvGrpSpPr/>
        <p:nvPr/>
      </p:nvGrpSpPr>
      <p:grpSpPr>
        <a:xfrm>
          <a:off x="0" y="0"/>
          <a:ext cx="0" cy="0"/>
          <a:chOff x="0" y="0"/>
          <a:chExt cx="0" cy="0"/>
        </a:xfrm>
      </p:grpSpPr>
      <p:sp>
        <p:nvSpPr>
          <p:cNvPr id="249" name="Google Shape;249;p92"/>
          <p:cNvSpPr txBox="1"/>
          <p:nvPr>
            <p:ph idx="1" type="body"/>
          </p:nvPr>
        </p:nvSpPr>
        <p:spPr>
          <a:xfrm>
            <a:off x="4290646" y="2444752"/>
            <a:ext cx="7000109"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50" name="Google Shape;250;p92"/>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51" name="Google Shape;251;p92"/>
          <p:cNvSpPr txBox="1"/>
          <p:nvPr>
            <p:ph type="title"/>
          </p:nvPr>
        </p:nvSpPr>
        <p:spPr>
          <a:xfrm>
            <a:off x="4290646" y="1301752"/>
            <a:ext cx="7000109"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52" name="Google Shape;252;p92"/>
          <p:cNvPicPr preferRelativeResize="0"/>
          <p:nvPr/>
        </p:nvPicPr>
        <p:blipFill rotWithShape="1">
          <a:blip r:embed="rId3">
            <a:alphaModFix/>
          </a:blip>
          <a:srcRect b="6799" l="17017" r="57867" t="29251"/>
          <a:stretch/>
        </p:blipFill>
        <p:spPr>
          <a:xfrm>
            <a:off x="351691" y="308181"/>
            <a:ext cx="3059723" cy="624163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3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debar pattern - seafoam">
  <p:cSld name="Title and Content with sidebar pattern - seafoam">
    <p:spTree>
      <p:nvGrpSpPr>
        <p:cNvPr id="253" name="Shape 253"/>
        <p:cNvGrpSpPr/>
        <p:nvPr/>
      </p:nvGrpSpPr>
      <p:grpSpPr>
        <a:xfrm>
          <a:off x="0" y="0"/>
          <a:ext cx="0" cy="0"/>
          <a:chOff x="0" y="0"/>
          <a:chExt cx="0" cy="0"/>
        </a:xfrm>
      </p:grpSpPr>
      <p:sp>
        <p:nvSpPr>
          <p:cNvPr id="254" name="Google Shape;254;p93"/>
          <p:cNvSpPr txBox="1"/>
          <p:nvPr>
            <p:ph idx="1" type="body"/>
          </p:nvPr>
        </p:nvSpPr>
        <p:spPr>
          <a:xfrm>
            <a:off x="4296675" y="2444752"/>
            <a:ext cx="7000109"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55" name="Google Shape;255;p93"/>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56" name="Google Shape;256;p93"/>
          <p:cNvSpPr txBox="1"/>
          <p:nvPr>
            <p:ph type="title"/>
          </p:nvPr>
        </p:nvSpPr>
        <p:spPr>
          <a:xfrm>
            <a:off x="4290646" y="1301752"/>
            <a:ext cx="7000109"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57" name="Google Shape;257;p93"/>
          <p:cNvPicPr preferRelativeResize="0"/>
          <p:nvPr/>
        </p:nvPicPr>
        <p:blipFill rotWithShape="1">
          <a:blip r:embed="rId3">
            <a:alphaModFix/>
          </a:blip>
          <a:srcRect b="5954" l="16699" r="57775" t="29052"/>
          <a:stretch/>
        </p:blipFill>
        <p:spPr>
          <a:xfrm>
            <a:off x="351691" y="308181"/>
            <a:ext cx="3059723" cy="624163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3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debar pattern - hop bine">
  <p:cSld name="Title and Content with sidebar pattern - hop bine">
    <p:spTree>
      <p:nvGrpSpPr>
        <p:cNvPr id="258" name="Shape 258"/>
        <p:cNvGrpSpPr/>
        <p:nvPr/>
      </p:nvGrpSpPr>
      <p:grpSpPr>
        <a:xfrm>
          <a:off x="0" y="0"/>
          <a:ext cx="0" cy="0"/>
          <a:chOff x="0" y="0"/>
          <a:chExt cx="0" cy="0"/>
        </a:xfrm>
      </p:grpSpPr>
      <p:sp>
        <p:nvSpPr>
          <p:cNvPr id="259" name="Google Shape;259;p94"/>
          <p:cNvSpPr txBox="1"/>
          <p:nvPr>
            <p:ph idx="1" type="body"/>
          </p:nvPr>
        </p:nvSpPr>
        <p:spPr>
          <a:xfrm>
            <a:off x="4290646" y="2444752"/>
            <a:ext cx="7000109"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60" name="Google Shape;260;p94"/>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61" name="Google Shape;261;p94"/>
          <p:cNvSpPr txBox="1"/>
          <p:nvPr>
            <p:ph type="title"/>
          </p:nvPr>
        </p:nvSpPr>
        <p:spPr>
          <a:xfrm>
            <a:off x="4290646" y="1301752"/>
            <a:ext cx="7000109"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2" name="Google Shape;262;p94"/>
          <p:cNvPicPr preferRelativeResize="0"/>
          <p:nvPr/>
        </p:nvPicPr>
        <p:blipFill rotWithShape="1">
          <a:blip r:embed="rId3">
            <a:alphaModFix/>
          </a:blip>
          <a:srcRect b="8737" l="27601" r="50935" t="18141"/>
          <a:stretch/>
        </p:blipFill>
        <p:spPr>
          <a:xfrm>
            <a:off x="351691" y="308181"/>
            <a:ext cx="3059723" cy="624163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3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debar pattern - moondust triangles">
  <p:cSld name="Title and Content with sidebar pattern - moondust triangles">
    <p:spTree>
      <p:nvGrpSpPr>
        <p:cNvPr id="263" name="Shape 263"/>
        <p:cNvGrpSpPr/>
        <p:nvPr/>
      </p:nvGrpSpPr>
      <p:grpSpPr>
        <a:xfrm>
          <a:off x="0" y="0"/>
          <a:ext cx="0" cy="0"/>
          <a:chOff x="0" y="0"/>
          <a:chExt cx="0" cy="0"/>
        </a:xfrm>
      </p:grpSpPr>
      <p:sp>
        <p:nvSpPr>
          <p:cNvPr id="264" name="Google Shape;264;p95"/>
          <p:cNvSpPr txBox="1"/>
          <p:nvPr>
            <p:ph idx="1" type="body"/>
          </p:nvPr>
        </p:nvSpPr>
        <p:spPr>
          <a:xfrm>
            <a:off x="4290646" y="2444752"/>
            <a:ext cx="7000109"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65" name="Google Shape;265;p95"/>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66" name="Google Shape;266;p95"/>
          <p:cNvSpPr txBox="1"/>
          <p:nvPr>
            <p:ph type="title"/>
          </p:nvPr>
        </p:nvSpPr>
        <p:spPr>
          <a:xfrm>
            <a:off x="4290646" y="1301752"/>
            <a:ext cx="7000109"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7" name="Google Shape;267;p95"/>
          <p:cNvPicPr preferRelativeResize="0"/>
          <p:nvPr/>
        </p:nvPicPr>
        <p:blipFill rotWithShape="1">
          <a:blip r:embed="rId3">
            <a:alphaModFix/>
          </a:blip>
          <a:srcRect b="8258" l="22184" r="57263" t="25674"/>
          <a:stretch/>
        </p:blipFill>
        <p:spPr>
          <a:xfrm>
            <a:off x="351691" y="308181"/>
            <a:ext cx="3059723" cy="6241637"/>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3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debar pattern - moondust">
  <p:cSld name="Title and Content with sidebar pattern - moondust">
    <p:spTree>
      <p:nvGrpSpPr>
        <p:cNvPr id="268" name="Shape 268"/>
        <p:cNvGrpSpPr/>
        <p:nvPr/>
      </p:nvGrpSpPr>
      <p:grpSpPr>
        <a:xfrm>
          <a:off x="0" y="0"/>
          <a:ext cx="0" cy="0"/>
          <a:chOff x="0" y="0"/>
          <a:chExt cx="0" cy="0"/>
        </a:xfrm>
      </p:grpSpPr>
      <p:sp>
        <p:nvSpPr>
          <p:cNvPr id="269" name="Google Shape;269;p96"/>
          <p:cNvSpPr txBox="1"/>
          <p:nvPr>
            <p:ph idx="1" type="body"/>
          </p:nvPr>
        </p:nvSpPr>
        <p:spPr>
          <a:xfrm>
            <a:off x="4290646" y="2444752"/>
            <a:ext cx="7000109"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70" name="Google Shape;270;p96"/>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71" name="Google Shape;271;p96"/>
          <p:cNvSpPr txBox="1"/>
          <p:nvPr>
            <p:ph type="title"/>
          </p:nvPr>
        </p:nvSpPr>
        <p:spPr>
          <a:xfrm>
            <a:off x="4290646" y="1301752"/>
            <a:ext cx="7000109"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72" name="Google Shape;272;p96"/>
          <p:cNvPicPr preferRelativeResize="0"/>
          <p:nvPr/>
        </p:nvPicPr>
        <p:blipFill rotWithShape="1">
          <a:blip r:embed="rId3">
            <a:alphaModFix/>
          </a:blip>
          <a:srcRect b="-365" l="44973" r="0" t="365"/>
          <a:stretch/>
        </p:blipFill>
        <p:spPr>
          <a:xfrm>
            <a:off x="-1" y="-50533"/>
            <a:ext cx="3386643" cy="6908532"/>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3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ith Sidebar Image">
  <p:cSld name="Title and Content with Sidebar Image">
    <p:spTree>
      <p:nvGrpSpPr>
        <p:cNvPr id="273" name="Shape 273"/>
        <p:cNvGrpSpPr/>
        <p:nvPr/>
      </p:nvGrpSpPr>
      <p:grpSpPr>
        <a:xfrm>
          <a:off x="0" y="0"/>
          <a:ext cx="0" cy="0"/>
          <a:chOff x="0" y="0"/>
          <a:chExt cx="0" cy="0"/>
        </a:xfrm>
      </p:grpSpPr>
      <p:sp>
        <p:nvSpPr>
          <p:cNvPr id="274" name="Google Shape;274;p97"/>
          <p:cNvSpPr txBox="1"/>
          <p:nvPr>
            <p:ph idx="1" type="body"/>
          </p:nvPr>
        </p:nvSpPr>
        <p:spPr>
          <a:xfrm>
            <a:off x="4290646" y="2444752"/>
            <a:ext cx="7000109" cy="3682206"/>
          </a:xfrm>
          <a:prstGeom prst="rect">
            <a:avLst/>
          </a:prstGeom>
          <a:noFill/>
          <a:ln>
            <a:noFill/>
          </a:ln>
        </p:spPr>
        <p:txBody>
          <a:bodyPr anchorCtr="0" anchor="t" bIns="45700" lIns="91425" spcFirstLastPara="1" rIns="91425" wrap="square" tIns="45700">
            <a:normAutofit/>
          </a:bodyPr>
          <a:lstStyle>
            <a:lvl1pPr indent="-419100" lvl="0" marL="457200" algn="l">
              <a:lnSpc>
                <a:spcPct val="100000"/>
              </a:lnSpc>
              <a:spcBef>
                <a:spcPts val="600"/>
              </a:spcBef>
              <a:spcAft>
                <a:spcPts val="0"/>
              </a:spcAft>
              <a:buClr>
                <a:schemeClr val="dk1"/>
              </a:buClr>
              <a:buSzPts val="3000"/>
              <a:buChar char="•"/>
              <a:defRPr/>
            </a:lvl1pPr>
            <a:lvl2pPr indent="-393700" lvl="1" marL="914400" algn="l">
              <a:lnSpc>
                <a:spcPct val="100000"/>
              </a:lnSpc>
              <a:spcBef>
                <a:spcPts val="520"/>
              </a:spcBef>
              <a:spcAft>
                <a:spcPts val="0"/>
              </a:spcAft>
              <a:buClr>
                <a:schemeClr val="dk1"/>
              </a:buClr>
              <a:buSzPts val="2600"/>
              <a:buChar char="–"/>
              <a:defRPr/>
            </a:lvl2pPr>
            <a:lvl3pPr indent="-381000" lvl="2" marL="1371600" algn="l">
              <a:lnSpc>
                <a:spcPct val="100000"/>
              </a:lnSpc>
              <a:spcBef>
                <a:spcPts val="480"/>
              </a:spcBef>
              <a:spcAft>
                <a:spcPts val="0"/>
              </a:spcAft>
              <a:buClr>
                <a:schemeClr val="dk1"/>
              </a:buClr>
              <a:buSzPts val="2400"/>
              <a:buChar char="•"/>
              <a:defRPr/>
            </a:lvl3pPr>
            <a:lvl4pPr indent="-355600" lvl="3" marL="1828800" algn="l">
              <a:lnSpc>
                <a:spcPct val="100000"/>
              </a:lnSpc>
              <a:spcBef>
                <a:spcPts val="400"/>
              </a:spcBef>
              <a:spcAft>
                <a:spcPts val="0"/>
              </a:spcAft>
              <a:buClr>
                <a:schemeClr val="dk1"/>
              </a:buClr>
              <a:buSzPts val="2000"/>
              <a:buChar char="–"/>
              <a:defRPr/>
            </a:lvl4pPr>
            <a:lvl5pPr indent="-355600" lvl="4" marL="2286000" algn="l">
              <a:lnSpc>
                <a:spcPct val="100000"/>
              </a:lnSpc>
              <a:spcBef>
                <a:spcPts val="400"/>
              </a:spcBef>
              <a:spcAft>
                <a:spcPts val="0"/>
              </a:spcAft>
              <a:buClr>
                <a:schemeClr val="dk1"/>
              </a:buClr>
              <a:buSzPts val="20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descr="OSU_COE_horizontal_2C_O_over_B.eps" id="275" name="Google Shape;275;p97"/>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76" name="Google Shape;276;p97"/>
          <p:cNvSpPr txBox="1"/>
          <p:nvPr>
            <p:ph type="title"/>
          </p:nvPr>
        </p:nvSpPr>
        <p:spPr>
          <a:xfrm>
            <a:off x="4290646" y="1301752"/>
            <a:ext cx="7000109"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7" name="Google Shape;277;p97"/>
          <p:cNvSpPr/>
          <p:nvPr>
            <p:ph idx="2" type="pic"/>
          </p:nvPr>
        </p:nvSpPr>
        <p:spPr>
          <a:xfrm>
            <a:off x="1" y="0"/>
            <a:ext cx="3716338" cy="685800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3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p:cSld name="Section divider">
    <p:spTree>
      <p:nvGrpSpPr>
        <p:cNvPr id="278" name="Shape 278"/>
        <p:cNvGrpSpPr/>
        <p:nvPr/>
      </p:nvGrpSpPr>
      <p:grpSpPr>
        <a:xfrm>
          <a:off x="0" y="0"/>
          <a:ext cx="0" cy="0"/>
          <a:chOff x="0" y="0"/>
          <a:chExt cx="0" cy="0"/>
        </a:xfrm>
      </p:grpSpPr>
      <p:pic>
        <p:nvPicPr>
          <p:cNvPr descr="OSU_COE_horizontal_2C_O_over_B.eps" id="279" name="Google Shape;279;p98"/>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80" name="Google Shape;280;p98"/>
          <p:cNvSpPr txBox="1"/>
          <p:nvPr>
            <p:ph type="title"/>
          </p:nvPr>
        </p:nvSpPr>
        <p:spPr>
          <a:xfrm>
            <a:off x="927889" y="2832443"/>
            <a:ext cx="10362867" cy="1193114"/>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pattern - tree ring">
  <p:cSld name="Section divider with pattern - tree ring">
    <p:spTree>
      <p:nvGrpSpPr>
        <p:cNvPr id="281" name="Shape 281"/>
        <p:cNvGrpSpPr/>
        <p:nvPr/>
      </p:nvGrpSpPr>
      <p:grpSpPr>
        <a:xfrm>
          <a:off x="0" y="0"/>
          <a:ext cx="0" cy="0"/>
          <a:chOff x="0" y="0"/>
          <a:chExt cx="0" cy="0"/>
        </a:xfrm>
      </p:grpSpPr>
      <p:pic>
        <p:nvPicPr>
          <p:cNvPr descr="OSU_COE_horizontal_2C_O_over_B.eps" id="282" name="Google Shape;282;p99"/>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83" name="Google Shape;283;p99"/>
          <p:cNvSpPr txBox="1"/>
          <p:nvPr>
            <p:ph type="title"/>
          </p:nvPr>
        </p:nvSpPr>
        <p:spPr>
          <a:xfrm>
            <a:off x="927889" y="2832443"/>
            <a:ext cx="10362867" cy="1193114"/>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84" name="Google Shape;284;p99"/>
          <p:cNvPicPr preferRelativeResize="0"/>
          <p:nvPr/>
        </p:nvPicPr>
        <p:blipFill rotWithShape="1">
          <a:blip r:embed="rId3">
            <a:alphaModFix/>
          </a:blip>
          <a:srcRect b="-42804" l="-5026" r="50000" t="42804"/>
          <a:stretch/>
        </p:blipFill>
        <p:spPr>
          <a:xfrm rot="5400000">
            <a:off x="7041238" y="1710412"/>
            <a:ext cx="3386643" cy="6908532"/>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with pattern - trails">
  <p:cSld name="Section divider with pattern - trails">
    <p:spTree>
      <p:nvGrpSpPr>
        <p:cNvPr id="285" name="Shape 285"/>
        <p:cNvGrpSpPr/>
        <p:nvPr/>
      </p:nvGrpSpPr>
      <p:grpSpPr>
        <a:xfrm>
          <a:off x="0" y="0"/>
          <a:ext cx="0" cy="0"/>
          <a:chOff x="0" y="0"/>
          <a:chExt cx="0" cy="0"/>
        </a:xfrm>
      </p:grpSpPr>
      <p:pic>
        <p:nvPicPr>
          <p:cNvPr descr="OSU_COE_horizontal_2C_O_over_B.eps" id="286" name="Google Shape;286;p100"/>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87" name="Google Shape;287;p100"/>
          <p:cNvSpPr txBox="1"/>
          <p:nvPr>
            <p:ph type="title"/>
          </p:nvPr>
        </p:nvSpPr>
        <p:spPr>
          <a:xfrm>
            <a:off x="927889" y="2832443"/>
            <a:ext cx="10362867" cy="1193114"/>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map of the ocean&#10;&#10;Description automatically generated" id="288" name="Google Shape;288;p100"/>
          <p:cNvPicPr preferRelativeResize="0"/>
          <p:nvPr/>
        </p:nvPicPr>
        <p:blipFill rotWithShape="1">
          <a:blip r:embed="rId3">
            <a:alphaModFix/>
          </a:blip>
          <a:srcRect b="0" l="0" r="0" t="0"/>
          <a:stretch/>
        </p:blipFill>
        <p:spPr>
          <a:xfrm rot="5400000">
            <a:off x="-6948925" y="-5503493"/>
            <a:ext cx="14720647" cy="11006985"/>
          </a:xfrm>
          <a:prstGeom prst="rect">
            <a:avLst/>
          </a:prstGeom>
          <a:noFill/>
          <a:ln>
            <a:noFill/>
          </a:ln>
        </p:spPr>
      </p:pic>
      <p:pic>
        <p:nvPicPr>
          <p:cNvPr descr="A map of the ocean&#10;&#10;Description automatically generated" id="289" name="Google Shape;289;p100"/>
          <p:cNvPicPr preferRelativeResize="0"/>
          <p:nvPr/>
        </p:nvPicPr>
        <p:blipFill rotWithShape="1">
          <a:blip r:embed="rId3">
            <a:alphaModFix/>
          </a:blip>
          <a:srcRect b="0" l="0" r="0" t="0"/>
          <a:stretch/>
        </p:blipFill>
        <p:spPr>
          <a:xfrm rot="2964971">
            <a:off x="8184621" y="1354507"/>
            <a:ext cx="14720647" cy="11006985"/>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 Feature">
  <p:cSld name="Person Feature">
    <p:spTree>
      <p:nvGrpSpPr>
        <p:cNvPr id="290" name="Shape 290"/>
        <p:cNvGrpSpPr/>
        <p:nvPr/>
      </p:nvGrpSpPr>
      <p:grpSpPr>
        <a:xfrm>
          <a:off x="0" y="0"/>
          <a:ext cx="0" cy="0"/>
          <a:chOff x="0" y="0"/>
          <a:chExt cx="0" cy="0"/>
        </a:xfrm>
      </p:grpSpPr>
      <p:pic>
        <p:nvPicPr>
          <p:cNvPr descr="OSU_COE_horizontal_2C_O_over_B.eps" id="291" name="Google Shape;291;p102"/>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
        <p:nvSpPr>
          <p:cNvPr id="292" name="Google Shape;292;p102"/>
          <p:cNvSpPr txBox="1"/>
          <p:nvPr>
            <p:ph type="title"/>
          </p:nvPr>
        </p:nvSpPr>
        <p:spPr>
          <a:xfrm>
            <a:off x="5328790" y="1971842"/>
            <a:ext cx="5391038" cy="1193114"/>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DC4400"/>
              </a:buClr>
              <a:buSzPts val="4400"/>
              <a:buFont typeface="Impact"/>
              <a:buNone/>
              <a:defRPr>
                <a:solidFill>
                  <a:srgbClr val="DC44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p102"/>
          <p:cNvSpPr txBox="1"/>
          <p:nvPr>
            <p:ph idx="1" type="body"/>
          </p:nvPr>
        </p:nvSpPr>
        <p:spPr>
          <a:xfrm>
            <a:off x="5328790" y="3164956"/>
            <a:ext cx="5391037" cy="202697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sz="1800"/>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4" name="Google Shape;294;p102"/>
          <p:cNvSpPr/>
          <p:nvPr>
            <p:ph idx="2" type="pic"/>
          </p:nvPr>
        </p:nvSpPr>
        <p:spPr>
          <a:xfrm>
            <a:off x="1107851" y="1741834"/>
            <a:ext cx="4005494" cy="4002587"/>
          </a:xfrm>
          <a:prstGeom prst="ellipse">
            <a:avLst/>
          </a:prstGeom>
          <a:noFill/>
          <a:ln>
            <a:noFill/>
          </a:ln>
        </p:spPr>
      </p:sp>
      <p:sp>
        <p:nvSpPr>
          <p:cNvPr id="295" name="Google Shape;295;p102"/>
          <p:cNvSpPr/>
          <p:nvPr/>
        </p:nvSpPr>
        <p:spPr>
          <a:xfrm>
            <a:off x="1107851" y="1738927"/>
            <a:ext cx="4005494" cy="4005494"/>
          </a:xfrm>
          <a:prstGeom prst="ellipse">
            <a:avLst/>
          </a:prstGeom>
          <a:noFill/>
          <a:ln cap="flat" cmpd="sng" w="9525">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96" name="Shape 296"/>
        <p:cNvGrpSpPr/>
        <p:nvPr/>
      </p:nvGrpSpPr>
      <p:grpSpPr>
        <a:xfrm>
          <a:off x="0" y="0"/>
          <a:ext cx="0" cy="0"/>
          <a:chOff x="0" y="0"/>
          <a:chExt cx="0" cy="0"/>
        </a:xfrm>
      </p:grpSpPr>
      <p:pic>
        <p:nvPicPr>
          <p:cNvPr descr="OSU_COE_horizontal_2C_O_over_B.eps" id="297" name="Google Shape;297;p103"/>
          <p:cNvPicPr preferRelativeResize="0"/>
          <p:nvPr/>
        </p:nvPicPr>
        <p:blipFill rotWithShape="1">
          <a:blip r:embed="rId2">
            <a:alphaModFix/>
          </a:blip>
          <a:srcRect b="0" l="0" r="0" t="0"/>
          <a:stretch/>
        </p:blipFill>
        <p:spPr>
          <a:xfrm>
            <a:off x="8485643" y="324700"/>
            <a:ext cx="2805112" cy="802297"/>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spTree>
      <p:nvGrpSpPr>
        <p:cNvPr id="298" name="Shape 298"/>
        <p:cNvGrpSpPr/>
        <p:nvPr/>
      </p:nvGrpSpPr>
      <p:grpSpPr>
        <a:xfrm>
          <a:off x="0" y="0"/>
          <a:ext cx="0" cy="0"/>
          <a:chOff x="0" y="0"/>
          <a:chExt cx="0" cy="0"/>
        </a:xfrm>
      </p:grpSpPr>
      <p:sp>
        <p:nvSpPr>
          <p:cNvPr id="299" name="Google Shape;299;p104"/>
          <p:cNvSpPr/>
          <p:nvPr/>
        </p:nvSpPr>
        <p:spPr>
          <a:xfrm>
            <a:off x="-9620" y="-9622"/>
            <a:ext cx="12211242" cy="687724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0" name="Google Shape;300;p104"/>
          <p:cNvSpPr txBox="1"/>
          <p:nvPr>
            <p:ph type="ctrTitle"/>
          </p:nvPr>
        </p:nvSpPr>
        <p:spPr>
          <a:xfrm>
            <a:off x="914162" y="2977163"/>
            <a:ext cx="10360501" cy="1083277"/>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lt1"/>
              </a:buClr>
              <a:buSzPts val="4800"/>
              <a:buFont typeface="Impact"/>
              <a:buNone/>
              <a:defRPr b="1" i="0" sz="4800">
                <a:solidFill>
                  <a:schemeClr val="lt1"/>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1" name="Google Shape;301;p104"/>
          <p:cNvSpPr txBox="1"/>
          <p:nvPr>
            <p:ph idx="1" type="subTitle"/>
          </p:nvPr>
        </p:nvSpPr>
        <p:spPr>
          <a:xfrm>
            <a:off x="1828324" y="4079676"/>
            <a:ext cx="8532178" cy="1327821"/>
          </a:xfrm>
          <a:prstGeom prst="rect">
            <a:avLst/>
          </a:prstGeom>
          <a:noFill/>
          <a:ln>
            <a:noFill/>
          </a:ln>
        </p:spPr>
        <p:txBody>
          <a:bodyPr anchorCtr="0" anchor="t" bIns="45700" lIns="91425" spcFirstLastPara="1" rIns="91425" wrap="square" tIns="45700">
            <a:normAutofit/>
          </a:bodyPr>
          <a:lstStyle>
            <a:lvl1pPr lvl="0" algn="ctr">
              <a:lnSpc>
                <a:spcPct val="130000"/>
              </a:lnSpc>
              <a:spcBef>
                <a:spcPts val="480"/>
              </a:spcBef>
              <a:spcAft>
                <a:spcPts val="0"/>
              </a:spcAft>
              <a:buClr>
                <a:srgbClr val="FFFFFF"/>
              </a:buClr>
              <a:buSzPts val="2400"/>
              <a:buNone/>
              <a:defRPr sz="2400">
                <a:solidFill>
                  <a:srgbClr val="FFFFFF"/>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pic>
        <p:nvPicPr>
          <p:cNvPr id="302" name="Google Shape;302;p104"/>
          <p:cNvPicPr preferRelativeResize="0"/>
          <p:nvPr/>
        </p:nvPicPr>
        <p:blipFill rotWithShape="1">
          <a:blip r:embed="rId2">
            <a:alphaModFix/>
          </a:blip>
          <a:srcRect b="0" l="0" r="0" t="0"/>
          <a:stretch/>
        </p:blipFill>
        <p:spPr>
          <a:xfrm>
            <a:off x="5117916" y="467917"/>
            <a:ext cx="1952993" cy="2057399"/>
          </a:xfrm>
          <a:prstGeom prst="rect">
            <a:avLst/>
          </a:prstGeom>
          <a:noFill/>
          <a:ln>
            <a:noFill/>
          </a:ln>
        </p:spPr>
      </p:pic>
      <p:sp>
        <p:nvSpPr>
          <p:cNvPr id="303" name="Google Shape;303;p104"/>
          <p:cNvSpPr txBox="1"/>
          <p:nvPr/>
        </p:nvSpPr>
        <p:spPr>
          <a:xfrm>
            <a:off x="786201" y="6075181"/>
            <a:ext cx="10622361"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lt1"/>
                </a:solidFill>
                <a:latin typeface="Verdana"/>
                <a:ea typeface="Verdana"/>
                <a:cs typeface="Verdana"/>
                <a:sym typeface="Verdana"/>
              </a:rPr>
              <a:t>COLLEGE OF ENGINEERING</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 Slide 3">
    <p:spTree>
      <p:nvGrpSpPr>
        <p:cNvPr id="304" name="Shape 304"/>
        <p:cNvGrpSpPr/>
        <p:nvPr/>
      </p:nvGrpSpPr>
      <p:grpSpPr>
        <a:xfrm>
          <a:off x="0" y="0"/>
          <a:ext cx="0" cy="0"/>
          <a:chOff x="0" y="0"/>
          <a:chExt cx="0" cy="0"/>
        </a:xfrm>
      </p:grpSpPr>
      <p:sp>
        <p:nvSpPr>
          <p:cNvPr id="305" name="Google Shape;305;p105"/>
          <p:cNvSpPr/>
          <p:nvPr/>
        </p:nvSpPr>
        <p:spPr>
          <a:xfrm>
            <a:off x="0" y="-19243"/>
            <a:ext cx="12211242" cy="687724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06" name="Google Shape;306;p105"/>
          <p:cNvPicPr preferRelativeResize="0"/>
          <p:nvPr/>
        </p:nvPicPr>
        <p:blipFill rotWithShape="1">
          <a:blip r:embed="rId2">
            <a:alphaModFix/>
          </a:blip>
          <a:srcRect b="14933" l="0" r="1490" t="14932"/>
          <a:stretch/>
        </p:blipFill>
        <p:spPr>
          <a:xfrm>
            <a:off x="1042123" y="277367"/>
            <a:ext cx="11146702" cy="6355045"/>
          </a:xfrm>
          <a:prstGeom prst="rect">
            <a:avLst/>
          </a:prstGeom>
          <a:noFill/>
          <a:ln>
            <a:noFill/>
          </a:ln>
        </p:spPr>
      </p:pic>
      <p:sp>
        <p:nvSpPr>
          <p:cNvPr id="307" name="Google Shape;307;p105"/>
          <p:cNvSpPr/>
          <p:nvPr/>
        </p:nvSpPr>
        <p:spPr>
          <a:xfrm>
            <a:off x="-1" y="-9622"/>
            <a:ext cx="12211241" cy="6877244"/>
          </a:xfrm>
          <a:prstGeom prst="rect">
            <a:avLst/>
          </a:prstGeom>
          <a:gradFill>
            <a:gsLst>
              <a:gs pos="0">
                <a:schemeClr val="dk1"/>
              </a:gs>
              <a:gs pos="24000">
                <a:schemeClr val="dk1"/>
              </a:gs>
              <a:gs pos="64000">
                <a:srgbClr val="000000">
                  <a:alpha val="80000"/>
                </a:srgbClr>
              </a:gs>
              <a:gs pos="93000">
                <a:srgbClr val="000000">
                  <a:alpha val="46666"/>
                </a:srgbClr>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8" name="Google Shape;308;p105"/>
          <p:cNvSpPr txBox="1"/>
          <p:nvPr>
            <p:ph type="ctrTitle"/>
          </p:nvPr>
        </p:nvSpPr>
        <p:spPr>
          <a:xfrm>
            <a:off x="786201" y="2345723"/>
            <a:ext cx="10360501" cy="108327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6000"/>
              <a:buFont typeface="Impact"/>
              <a:buNone/>
              <a:defRPr b="1" i="0" sz="6000">
                <a:solidFill>
                  <a:schemeClr val="lt1"/>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9" name="Google Shape;309;p105"/>
          <p:cNvSpPr txBox="1"/>
          <p:nvPr>
            <p:ph idx="1" type="subTitle"/>
          </p:nvPr>
        </p:nvSpPr>
        <p:spPr>
          <a:xfrm>
            <a:off x="786201" y="3454890"/>
            <a:ext cx="8532178" cy="1327821"/>
          </a:xfrm>
          <a:prstGeom prst="rect">
            <a:avLst/>
          </a:prstGeom>
          <a:noFill/>
          <a:ln>
            <a:noFill/>
          </a:ln>
        </p:spPr>
        <p:txBody>
          <a:bodyPr anchorCtr="0" anchor="t" bIns="45700" lIns="91425" spcFirstLastPara="1" rIns="91425" wrap="square" tIns="45700">
            <a:normAutofit/>
          </a:bodyPr>
          <a:lstStyle>
            <a:lvl1pPr lvl="0" algn="l">
              <a:lnSpc>
                <a:spcPct val="130000"/>
              </a:lnSpc>
              <a:spcBef>
                <a:spcPts val="560"/>
              </a:spcBef>
              <a:spcAft>
                <a:spcPts val="0"/>
              </a:spcAft>
              <a:buClr>
                <a:srgbClr val="FFFFFF"/>
              </a:buClr>
              <a:buSzPts val="2800"/>
              <a:buNone/>
              <a:defRPr sz="2800">
                <a:solidFill>
                  <a:srgbClr val="FFFFFF"/>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10" name="Google Shape;310;p105"/>
          <p:cNvSpPr txBox="1"/>
          <p:nvPr/>
        </p:nvSpPr>
        <p:spPr>
          <a:xfrm>
            <a:off x="786201" y="6075181"/>
            <a:ext cx="10622361"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COLLEGE OF ENGINEERING</a:t>
            </a:r>
            <a:endParaRPr b="0" i="0" sz="1400" u="none" cap="none" strike="noStrike">
              <a:solidFill>
                <a:srgbClr val="000000"/>
              </a:solidFill>
              <a:latin typeface="Arial"/>
              <a:ea typeface="Arial"/>
              <a:cs typeface="Arial"/>
              <a:sym typeface="Arial"/>
            </a:endParaRPr>
          </a:p>
        </p:txBody>
      </p:sp>
      <p:sp>
        <p:nvSpPr>
          <p:cNvPr id="311" name="Google Shape;311;p105"/>
          <p:cNvSpPr/>
          <p:nvPr/>
        </p:nvSpPr>
        <p:spPr>
          <a:xfrm>
            <a:off x="8156447" y="97536"/>
            <a:ext cx="3709731" cy="14494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12" name="Google Shape;312;p105"/>
          <p:cNvPicPr preferRelativeResize="0"/>
          <p:nvPr/>
        </p:nvPicPr>
        <p:blipFill rotWithShape="1">
          <a:blip r:embed="rId3">
            <a:alphaModFix/>
          </a:blip>
          <a:srcRect b="0" l="0" r="0" t="0"/>
          <a:stretch/>
        </p:blipFill>
        <p:spPr>
          <a:xfrm>
            <a:off x="8369085" y="413487"/>
            <a:ext cx="3039475" cy="97152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 Slide 5">
    <p:spTree>
      <p:nvGrpSpPr>
        <p:cNvPr id="313" name="Shape 313"/>
        <p:cNvGrpSpPr/>
        <p:nvPr/>
      </p:nvGrpSpPr>
      <p:grpSpPr>
        <a:xfrm>
          <a:off x="0" y="0"/>
          <a:ext cx="0" cy="0"/>
          <a:chOff x="0" y="0"/>
          <a:chExt cx="0" cy="0"/>
        </a:xfrm>
      </p:grpSpPr>
      <p:sp>
        <p:nvSpPr>
          <p:cNvPr id="314" name="Google Shape;314;p106"/>
          <p:cNvSpPr/>
          <p:nvPr/>
        </p:nvSpPr>
        <p:spPr>
          <a:xfrm>
            <a:off x="-9620" y="-9622"/>
            <a:ext cx="12211242" cy="687724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p106"/>
          <p:cNvSpPr/>
          <p:nvPr/>
        </p:nvSpPr>
        <p:spPr>
          <a:xfrm>
            <a:off x="364172" y="439377"/>
            <a:ext cx="11460479" cy="6031026"/>
          </a:xfrm>
          <a:prstGeom prst="rect">
            <a:avLst/>
          </a:prstGeom>
          <a:noFill/>
          <a:ln cap="flat" cmpd="sng" w="19050">
            <a:solidFill>
              <a:srgbClr val="DC44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p106"/>
          <p:cNvSpPr txBox="1"/>
          <p:nvPr>
            <p:ph type="ctrTitle"/>
          </p:nvPr>
        </p:nvSpPr>
        <p:spPr>
          <a:xfrm>
            <a:off x="786201" y="2345723"/>
            <a:ext cx="10360501" cy="108327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6000"/>
              <a:buFont typeface="Impact"/>
              <a:buNone/>
              <a:defRPr b="1" i="0" sz="6000">
                <a:solidFill>
                  <a:schemeClr val="lt1"/>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7" name="Google Shape;317;p106"/>
          <p:cNvSpPr txBox="1"/>
          <p:nvPr>
            <p:ph idx="1" type="subTitle"/>
          </p:nvPr>
        </p:nvSpPr>
        <p:spPr>
          <a:xfrm>
            <a:off x="786201" y="3454890"/>
            <a:ext cx="8532178" cy="1327821"/>
          </a:xfrm>
          <a:prstGeom prst="rect">
            <a:avLst/>
          </a:prstGeom>
          <a:noFill/>
          <a:ln>
            <a:noFill/>
          </a:ln>
        </p:spPr>
        <p:txBody>
          <a:bodyPr anchorCtr="0" anchor="t" bIns="45700" lIns="91425" spcFirstLastPara="1" rIns="91425" wrap="square" tIns="45700">
            <a:normAutofit/>
          </a:bodyPr>
          <a:lstStyle>
            <a:lvl1pPr lvl="0" algn="l">
              <a:lnSpc>
                <a:spcPct val="130000"/>
              </a:lnSpc>
              <a:spcBef>
                <a:spcPts val="560"/>
              </a:spcBef>
              <a:spcAft>
                <a:spcPts val="0"/>
              </a:spcAft>
              <a:buClr>
                <a:schemeClr val="lt1"/>
              </a:buClr>
              <a:buSzPts val="2800"/>
              <a:buNone/>
              <a:defRPr sz="2800">
                <a:solidFill>
                  <a:schemeClr val="lt1"/>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18" name="Google Shape;318;p106"/>
          <p:cNvSpPr txBox="1"/>
          <p:nvPr/>
        </p:nvSpPr>
        <p:spPr>
          <a:xfrm>
            <a:off x="783230" y="5818884"/>
            <a:ext cx="10622361"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COLLEGE OF ENGINEERING</a:t>
            </a:r>
            <a:endParaRPr b="0" i="0" sz="1400" u="none" cap="none" strike="noStrike">
              <a:solidFill>
                <a:srgbClr val="000000"/>
              </a:solidFill>
              <a:latin typeface="Arial"/>
              <a:ea typeface="Arial"/>
              <a:cs typeface="Arial"/>
              <a:sym typeface="Arial"/>
            </a:endParaRPr>
          </a:p>
        </p:txBody>
      </p:sp>
      <p:pic>
        <p:nvPicPr>
          <p:cNvPr id="319" name="Google Shape;319;p106"/>
          <p:cNvPicPr preferRelativeResize="0"/>
          <p:nvPr/>
        </p:nvPicPr>
        <p:blipFill rotWithShape="1">
          <a:blip r:embed="rId2">
            <a:alphaModFix/>
          </a:blip>
          <a:srcRect b="0" l="0" r="0" t="0"/>
          <a:stretch/>
        </p:blipFill>
        <p:spPr>
          <a:xfrm>
            <a:off x="8724604" y="722313"/>
            <a:ext cx="2680985" cy="856936"/>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 Slide 7">
    <p:spTree>
      <p:nvGrpSpPr>
        <p:cNvPr id="320" name="Shape 320"/>
        <p:cNvGrpSpPr/>
        <p:nvPr/>
      </p:nvGrpSpPr>
      <p:grpSpPr>
        <a:xfrm>
          <a:off x="0" y="0"/>
          <a:ext cx="0" cy="0"/>
          <a:chOff x="0" y="0"/>
          <a:chExt cx="0" cy="0"/>
        </a:xfrm>
      </p:grpSpPr>
      <p:sp>
        <p:nvSpPr>
          <p:cNvPr id="321" name="Google Shape;321;p107"/>
          <p:cNvSpPr/>
          <p:nvPr/>
        </p:nvSpPr>
        <p:spPr>
          <a:xfrm>
            <a:off x="-9620" y="-9622"/>
            <a:ext cx="12211242" cy="687724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2" name="Google Shape;322;p107"/>
          <p:cNvSpPr txBox="1"/>
          <p:nvPr>
            <p:ph type="ctrTitle"/>
          </p:nvPr>
        </p:nvSpPr>
        <p:spPr>
          <a:xfrm>
            <a:off x="786201" y="2345723"/>
            <a:ext cx="10360501" cy="108327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6000"/>
              <a:buFont typeface="Impact"/>
              <a:buNone/>
              <a:defRPr b="1" i="0" sz="6000">
                <a:solidFill>
                  <a:schemeClr val="lt1"/>
                </a:solidFill>
                <a:latin typeface="Impact"/>
                <a:ea typeface="Impact"/>
                <a:cs typeface="Impact"/>
                <a:sym typeface="Impac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3" name="Google Shape;323;p107"/>
          <p:cNvSpPr txBox="1"/>
          <p:nvPr>
            <p:ph idx="1" type="subTitle"/>
          </p:nvPr>
        </p:nvSpPr>
        <p:spPr>
          <a:xfrm>
            <a:off x="786201" y="3454890"/>
            <a:ext cx="8532178" cy="1327821"/>
          </a:xfrm>
          <a:prstGeom prst="rect">
            <a:avLst/>
          </a:prstGeom>
          <a:noFill/>
          <a:ln>
            <a:noFill/>
          </a:ln>
        </p:spPr>
        <p:txBody>
          <a:bodyPr anchorCtr="0" anchor="t" bIns="45700" lIns="91425" spcFirstLastPara="1" rIns="91425" wrap="square" tIns="45700">
            <a:normAutofit/>
          </a:bodyPr>
          <a:lstStyle>
            <a:lvl1pPr lvl="0" algn="l">
              <a:lnSpc>
                <a:spcPct val="130000"/>
              </a:lnSpc>
              <a:spcBef>
                <a:spcPts val="560"/>
              </a:spcBef>
              <a:spcAft>
                <a:spcPts val="0"/>
              </a:spcAft>
              <a:buClr>
                <a:schemeClr val="lt1"/>
              </a:buClr>
              <a:buSzPts val="2800"/>
              <a:buNone/>
              <a:defRPr sz="2800">
                <a:solidFill>
                  <a:schemeClr val="lt1"/>
                </a:solidFill>
                <a:latin typeface="Verdana"/>
                <a:ea typeface="Verdana"/>
                <a:cs typeface="Verdana"/>
                <a:sym typeface="Verdana"/>
              </a:defRPr>
            </a:lvl1pPr>
            <a:lvl2pPr lvl="1" algn="ctr">
              <a:lnSpc>
                <a:spcPct val="100000"/>
              </a:lnSpc>
              <a:spcBef>
                <a:spcPts val="520"/>
              </a:spcBef>
              <a:spcAft>
                <a:spcPts val="0"/>
              </a:spcAft>
              <a:buClr>
                <a:srgbClr val="888888"/>
              </a:buClr>
              <a:buSzPts val="26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24" name="Google Shape;324;p107"/>
          <p:cNvSpPr txBox="1"/>
          <p:nvPr/>
        </p:nvSpPr>
        <p:spPr>
          <a:xfrm>
            <a:off x="783230" y="5818884"/>
            <a:ext cx="10622361"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Arial"/>
                <a:ea typeface="Arial"/>
                <a:cs typeface="Arial"/>
                <a:sym typeface="Arial"/>
              </a:rPr>
              <a:t>COLLEGE OF ENGINEERING</a:t>
            </a:r>
            <a:endParaRPr b="0" i="0" sz="1400" u="none" cap="none" strike="noStrike">
              <a:solidFill>
                <a:srgbClr val="000000"/>
              </a:solidFill>
              <a:latin typeface="Arial"/>
              <a:ea typeface="Arial"/>
              <a:cs typeface="Arial"/>
              <a:sym typeface="Arial"/>
            </a:endParaRPr>
          </a:p>
        </p:txBody>
      </p:sp>
      <p:pic>
        <p:nvPicPr>
          <p:cNvPr id="325" name="Google Shape;325;p107"/>
          <p:cNvPicPr preferRelativeResize="0"/>
          <p:nvPr/>
        </p:nvPicPr>
        <p:blipFill rotWithShape="1">
          <a:blip r:embed="rId2">
            <a:alphaModFix/>
          </a:blip>
          <a:srcRect b="0" l="0" r="0" t="0"/>
          <a:stretch/>
        </p:blipFill>
        <p:spPr>
          <a:xfrm>
            <a:off x="8724604" y="722313"/>
            <a:ext cx="2680985" cy="856936"/>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6" name="Shape 326"/>
        <p:cNvGrpSpPr/>
        <p:nvPr/>
      </p:nvGrpSpPr>
      <p:grpSpPr>
        <a:xfrm>
          <a:off x="0" y="0"/>
          <a:ext cx="0" cy="0"/>
          <a:chOff x="0" y="0"/>
          <a:chExt cx="0" cy="0"/>
        </a:xfrm>
      </p:grpSpPr>
      <p:sp>
        <p:nvSpPr>
          <p:cNvPr id="327" name="Google Shape;327;g3d0d24bea63_0_184"/>
          <p:cNvSpPr txBox="1"/>
          <p:nvPr>
            <p:ph type="title"/>
          </p:nvPr>
        </p:nvSpPr>
        <p:spPr>
          <a:xfrm>
            <a:off x="415492" y="593367"/>
            <a:ext cx="11357700" cy="7635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g3d0d24bea63_0_184"/>
          <p:cNvSpPr txBox="1"/>
          <p:nvPr>
            <p:ph idx="1" type="body"/>
          </p:nvPr>
        </p:nvSpPr>
        <p:spPr>
          <a:xfrm>
            <a:off x="415492" y="1536633"/>
            <a:ext cx="11357700" cy="4555200"/>
          </a:xfrm>
          <a:prstGeom prst="rect">
            <a:avLst/>
          </a:prstGeom>
        </p:spPr>
        <p:txBody>
          <a:bodyPr anchorCtr="0" anchor="t" bIns="45700" lIns="91425" spcFirstLastPara="1" rIns="91425" wrap="square" tIns="45700">
            <a:normAutofit/>
          </a:bodyPr>
          <a:lstStyle>
            <a:lvl1pPr indent="-419100" lvl="0" marL="457200">
              <a:spcBef>
                <a:spcPts val="600"/>
              </a:spcBef>
              <a:spcAft>
                <a:spcPts val="0"/>
              </a:spcAft>
              <a:buSzPts val="3000"/>
              <a:buChar char="•"/>
              <a:defRPr/>
            </a:lvl1pPr>
            <a:lvl2pPr indent="-393700" lvl="1" marL="914400">
              <a:spcBef>
                <a:spcPts val="520"/>
              </a:spcBef>
              <a:spcAft>
                <a:spcPts val="0"/>
              </a:spcAft>
              <a:buSzPts val="26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329" name="Google Shape;329;g3d0d24bea63_0_184"/>
          <p:cNvSpPr txBox="1"/>
          <p:nvPr>
            <p:ph idx="12" type="sldNum"/>
          </p:nvPr>
        </p:nvSpPr>
        <p:spPr>
          <a:xfrm>
            <a:off x="11293669" y="6217622"/>
            <a:ext cx="7314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theme" Target="../theme/theme2.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2"/>
          <p:cNvSpPr txBox="1"/>
          <p:nvPr>
            <p:ph type="title"/>
          </p:nvPr>
        </p:nvSpPr>
        <p:spPr>
          <a:xfrm>
            <a:off x="609441" y="274638"/>
            <a:ext cx="10969943"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Impact"/>
              <a:buNone/>
              <a:defRPr b="1" i="0" sz="4400" u="none" cap="none" strike="noStrike">
                <a:solidFill>
                  <a:schemeClr val="dk1"/>
                </a:solidFill>
                <a:latin typeface="Impact"/>
                <a:ea typeface="Impact"/>
                <a:cs typeface="Impact"/>
                <a:sym typeface="Impac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2"/>
          <p:cNvSpPr txBox="1"/>
          <p:nvPr>
            <p:ph idx="1" type="body"/>
          </p:nvPr>
        </p:nvSpPr>
        <p:spPr>
          <a:xfrm>
            <a:off x="609441" y="1600201"/>
            <a:ext cx="10969943" cy="4525963"/>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100000"/>
              </a:lnSpc>
              <a:spcBef>
                <a:spcPts val="600"/>
              </a:spcBef>
              <a:spcAft>
                <a:spcPts val="0"/>
              </a:spcAft>
              <a:buClr>
                <a:schemeClr val="dk1"/>
              </a:buClr>
              <a:buSzPts val="3000"/>
              <a:buFont typeface="Arial"/>
              <a:buChar char="•"/>
              <a:defRPr b="0" i="0" sz="3000" u="none" cap="none" strike="noStrike">
                <a:solidFill>
                  <a:schemeClr val="dk1"/>
                </a:solidFill>
                <a:latin typeface="Verdana"/>
                <a:ea typeface="Verdana"/>
                <a:cs typeface="Verdana"/>
                <a:sym typeface="Verdana"/>
              </a:defRPr>
            </a:lvl1pPr>
            <a:lvl2pPr indent="-393700" lvl="1" marL="914400" marR="0" rtl="0" algn="l">
              <a:lnSpc>
                <a:spcPct val="100000"/>
              </a:lnSpc>
              <a:spcBef>
                <a:spcPts val="520"/>
              </a:spcBef>
              <a:spcAft>
                <a:spcPts val="0"/>
              </a:spcAft>
              <a:buClr>
                <a:schemeClr val="dk1"/>
              </a:buClr>
              <a:buSzPts val="2600"/>
              <a:buFont typeface="Arial"/>
              <a:buChar char="–"/>
              <a:defRPr b="0" i="0" sz="2600" u="none" cap="none" strike="noStrike">
                <a:solidFill>
                  <a:schemeClr val="dk1"/>
                </a:solidFill>
                <a:latin typeface="Verdana"/>
                <a:ea typeface="Verdana"/>
                <a:cs typeface="Verdana"/>
                <a:sym typeface="Verdana"/>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2"/>
          <p:cNvSpPr txBox="1"/>
          <p:nvPr>
            <p:ph idx="10" type="dt"/>
          </p:nvPr>
        </p:nvSpPr>
        <p:spPr>
          <a:xfrm>
            <a:off x="609441" y="6356351"/>
            <a:ext cx="2844059"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2"/>
          <p:cNvSpPr txBox="1"/>
          <p:nvPr>
            <p:ph idx="11" type="ftr"/>
          </p:nvPr>
        </p:nvSpPr>
        <p:spPr>
          <a:xfrm>
            <a:off x="4164515" y="6356351"/>
            <a:ext cx="3859795"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2"/>
          <p:cNvSpPr txBox="1"/>
          <p:nvPr>
            <p:ph idx="12" type="sldNum"/>
          </p:nvPr>
        </p:nvSpPr>
        <p:spPr>
          <a:xfrm>
            <a:off x="8735325" y="6356351"/>
            <a:ext cx="2844059"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1.png"/><Relationship Id="rId4" Type="http://schemas.openxmlformats.org/officeDocument/2006/relationships/image" Target="../media/image3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
          <p:cNvSpPr txBox="1"/>
          <p:nvPr>
            <p:ph type="ctrTitle"/>
          </p:nvPr>
        </p:nvSpPr>
        <p:spPr>
          <a:xfrm>
            <a:off x="759975" y="2500322"/>
            <a:ext cx="10668900" cy="2500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DC4400"/>
              </a:buClr>
              <a:buSzPts val="5728"/>
              <a:buFont typeface="Impact"/>
              <a:buNone/>
            </a:pPr>
            <a:r>
              <a:rPr lang="en-US"/>
              <a:t>TempoPeak: </a:t>
            </a:r>
            <a:r>
              <a:rPr b="0" lang="en-US" sz="4022"/>
              <a:t>Temporal Head Ablation for Single-Impact Localization in Sports Video</a:t>
            </a:r>
            <a:endParaRPr b="0" sz="4022"/>
          </a:p>
        </p:txBody>
      </p:sp>
      <p:sp>
        <p:nvSpPr>
          <p:cNvPr id="335" name="Google Shape;335;p1"/>
          <p:cNvSpPr txBox="1"/>
          <p:nvPr>
            <p:ph idx="1" type="subTitle"/>
          </p:nvPr>
        </p:nvSpPr>
        <p:spPr>
          <a:xfrm>
            <a:off x="1828275" y="4811075"/>
            <a:ext cx="8532300" cy="97200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130000"/>
              </a:lnSpc>
              <a:spcBef>
                <a:spcPts val="0"/>
              </a:spcBef>
              <a:spcAft>
                <a:spcPts val="0"/>
              </a:spcAft>
              <a:buClr>
                <a:srgbClr val="DC4400"/>
              </a:buClr>
              <a:buSzPts val="2400"/>
              <a:buNone/>
            </a:pPr>
            <a:r>
              <a:rPr lang="en-US"/>
              <a:t>Haochuan Zhang</a:t>
            </a:r>
            <a:endParaRPr/>
          </a:p>
          <a:p>
            <a:pPr indent="0" lvl="0" marL="0" rtl="0" algn="ctr">
              <a:lnSpc>
                <a:spcPct val="130000"/>
              </a:lnSpc>
              <a:spcBef>
                <a:spcPts val="480"/>
              </a:spcBef>
              <a:spcAft>
                <a:spcPts val="0"/>
              </a:spcAft>
              <a:buClr>
                <a:srgbClr val="DC4400"/>
              </a:buClr>
              <a:buSzPts val="2400"/>
              <a:buNone/>
            </a:pPr>
            <a:r>
              <a:rPr lang="en-US"/>
              <a:t>Mar-18-2026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b3ab29c72c_0_32"/>
          <p:cNvSpPr txBox="1"/>
          <p:nvPr>
            <p:ph idx="1" type="body"/>
          </p:nvPr>
        </p:nvSpPr>
        <p:spPr>
          <a:xfrm>
            <a:off x="912975" y="2401800"/>
            <a:ext cx="10851000" cy="13149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400"/>
              </a:spcBef>
              <a:spcAft>
                <a:spcPts val="0"/>
              </a:spcAft>
              <a:buClr>
                <a:schemeClr val="dk1"/>
              </a:buClr>
              <a:buSzPts val="1100"/>
              <a:buNone/>
            </a:pPr>
            <a:r>
              <a:rPr b="1" lang="en-US" sz="2000" u="sng">
                <a:latin typeface="Arial"/>
                <a:ea typeface="Arial"/>
                <a:cs typeface="Arial"/>
                <a:sym typeface="Arial"/>
              </a:rPr>
              <a:t>Task</a:t>
            </a:r>
            <a:endParaRPr b="1" sz="2000" u="sng">
              <a:latin typeface="Arial"/>
              <a:ea typeface="Arial"/>
              <a:cs typeface="Arial"/>
              <a:sym typeface="Arial"/>
            </a:endParaRPr>
          </a:p>
          <a:p>
            <a:pPr indent="0" lvl="0" marL="381000" marR="381000" rtl="0" algn="l">
              <a:lnSpc>
                <a:spcPct val="100000"/>
              </a:lnSpc>
              <a:spcBef>
                <a:spcPts val="1200"/>
              </a:spcBef>
              <a:spcAft>
                <a:spcPts val="0"/>
              </a:spcAft>
              <a:buClr>
                <a:schemeClr val="dk1"/>
              </a:buClr>
              <a:buSzPts val="1100"/>
              <a:buNone/>
            </a:pPr>
            <a:r>
              <a:rPr lang="en-US" sz="1800">
                <a:latin typeface="Arial"/>
                <a:ea typeface="Arial"/>
                <a:cs typeface="Arial"/>
                <a:sym typeface="Arial"/>
              </a:rPr>
              <a:t>Given a tennis video clip, predict the exact frame where the racket-ball impact occurs.</a:t>
            </a:r>
            <a:br>
              <a:rPr lang="en-US" sz="1800">
                <a:latin typeface="Arial"/>
                <a:ea typeface="Arial"/>
                <a:cs typeface="Arial"/>
                <a:sym typeface="Arial"/>
              </a:rPr>
            </a:br>
            <a:r>
              <a:rPr b="1" lang="en-US" sz="1800">
                <a:latin typeface="Arial"/>
                <a:ea typeface="Arial"/>
                <a:cs typeface="Arial"/>
                <a:sym typeface="Arial"/>
              </a:rPr>
              <a:t>Controlled ablation: fixed window. Ultimate goal: full-match inference.</a:t>
            </a:r>
            <a:endParaRPr b="1" sz="1800">
              <a:latin typeface="Arial"/>
              <a:ea typeface="Arial"/>
              <a:cs typeface="Arial"/>
              <a:sym typeface="Arial"/>
            </a:endParaRPr>
          </a:p>
        </p:txBody>
      </p:sp>
      <p:sp>
        <p:nvSpPr>
          <p:cNvPr id="341" name="Google Shape;341;g3b3ab29c72c_0_32"/>
          <p:cNvSpPr txBox="1"/>
          <p:nvPr>
            <p:ph type="title"/>
          </p:nvPr>
        </p:nvSpPr>
        <p:spPr>
          <a:xfrm>
            <a:off x="912979" y="1250845"/>
            <a:ext cx="10362900" cy="1193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400"/>
              <a:buNone/>
            </a:pPr>
            <a:r>
              <a:rPr lang="en-US"/>
              <a:t>Problem Definition</a:t>
            </a:r>
            <a:endParaRPr sz="3200"/>
          </a:p>
        </p:txBody>
      </p:sp>
      <p:pic>
        <p:nvPicPr>
          <p:cNvPr id="342" name="Google Shape;342;g3b3ab29c72c_0_32"/>
          <p:cNvPicPr preferRelativeResize="0"/>
          <p:nvPr/>
        </p:nvPicPr>
        <p:blipFill rotWithShape="1">
          <a:blip r:embed="rId3">
            <a:alphaModFix/>
          </a:blip>
          <a:srcRect b="0" l="0" r="0" t="0"/>
          <a:stretch/>
        </p:blipFill>
        <p:spPr>
          <a:xfrm>
            <a:off x="1114975" y="5866925"/>
            <a:ext cx="1713075" cy="388300"/>
          </a:xfrm>
          <a:prstGeom prst="rect">
            <a:avLst/>
          </a:prstGeom>
          <a:noFill/>
          <a:ln>
            <a:noFill/>
          </a:ln>
        </p:spPr>
      </p:pic>
      <p:pic>
        <p:nvPicPr>
          <p:cNvPr id="343" name="Google Shape;343;g3b3ab29c72c_0_32"/>
          <p:cNvPicPr preferRelativeResize="0"/>
          <p:nvPr/>
        </p:nvPicPr>
        <p:blipFill rotWithShape="1">
          <a:blip r:embed="rId4">
            <a:alphaModFix/>
          </a:blip>
          <a:srcRect b="0" l="0" r="0" t="0"/>
          <a:stretch/>
        </p:blipFill>
        <p:spPr>
          <a:xfrm>
            <a:off x="3291850" y="5847463"/>
            <a:ext cx="2073600" cy="427225"/>
          </a:xfrm>
          <a:prstGeom prst="rect">
            <a:avLst/>
          </a:prstGeom>
          <a:noFill/>
          <a:ln>
            <a:noFill/>
          </a:ln>
        </p:spPr>
      </p:pic>
      <p:pic>
        <p:nvPicPr>
          <p:cNvPr id="344" name="Google Shape;344;g3b3ab29c72c_0_32" title="slide1_crop_00002_h0.png"/>
          <p:cNvPicPr preferRelativeResize="0"/>
          <p:nvPr/>
        </p:nvPicPr>
        <p:blipFill>
          <a:blip r:embed="rId5">
            <a:alphaModFix/>
          </a:blip>
          <a:stretch>
            <a:fillRect/>
          </a:stretch>
        </p:blipFill>
        <p:spPr>
          <a:xfrm>
            <a:off x="621025" y="3687000"/>
            <a:ext cx="10946775" cy="1314896"/>
          </a:xfrm>
          <a:prstGeom prst="rect">
            <a:avLst/>
          </a:prstGeom>
          <a:noFill/>
          <a:ln>
            <a:noFill/>
          </a:ln>
        </p:spPr>
      </p:pic>
      <p:pic>
        <p:nvPicPr>
          <p:cNvPr id="345" name="Google Shape;345;g3b3ab29c72c_0_32" title="slide1_raw_00002_h0.png"/>
          <p:cNvPicPr preferRelativeResize="0"/>
          <p:nvPr/>
        </p:nvPicPr>
        <p:blipFill>
          <a:blip r:embed="rId6">
            <a:alphaModFix/>
          </a:blip>
          <a:stretch>
            <a:fillRect/>
          </a:stretch>
        </p:blipFill>
        <p:spPr>
          <a:xfrm>
            <a:off x="621025" y="5001895"/>
            <a:ext cx="10946775" cy="73227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c88880a09f_0_62"/>
          <p:cNvSpPr txBox="1"/>
          <p:nvPr>
            <p:ph idx="1" type="body"/>
          </p:nvPr>
        </p:nvSpPr>
        <p:spPr>
          <a:xfrm>
            <a:off x="912975" y="1888100"/>
            <a:ext cx="10362900" cy="1003500"/>
          </a:xfrm>
          <a:prstGeom prst="rect">
            <a:avLst/>
          </a:prstGeom>
          <a:noFill/>
          <a:ln>
            <a:noFill/>
          </a:ln>
        </p:spPr>
        <p:txBody>
          <a:bodyPr anchorCtr="0" anchor="t" bIns="45700" lIns="91425" spcFirstLastPara="1" rIns="91425" wrap="square" tIns="45700">
            <a:normAutofit/>
          </a:bodyPr>
          <a:lstStyle/>
          <a:p>
            <a:pPr indent="0" lvl="0" marL="0" marR="381000" rtl="0" algn="l">
              <a:lnSpc>
                <a:spcPct val="100000"/>
              </a:lnSpc>
              <a:spcBef>
                <a:spcPts val="0"/>
              </a:spcBef>
              <a:spcAft>
                <a:spcPts val="0"/>
              </a:spcAft>
              <a:buNone/>
            </a:pPr>
            <a:r>
              <a:rPr b="1" lang="en-US" sz="1800">
                <a:solidFill>
                  <a:srgbClr val="333333"/>
                </a:solidFill>
                <a:latin typeface="Arial"/>
                <a:ea typeface="Arial"/>
                <a:cs typeface="Arial"/>
                <a:sym typeface="Arial"/>
              </a:rPr>
              <a:t>27 clips     178 hits     30 fps broadcast footage</a:t>
            </a:r>
            <a:endParaRPr b="1" sz="1800">
              <a:solidFill>
                <a:srgbClr val="333333"/>
              </a:solidFill>
              <a:latin typeface="Arial"/>
              <a:ea typeface="Arial"/>
              <a:cs typeface="Arial"/>
              <a:sym typeface="Arial"/>
            </a:endParaRPr>
          </a:p>
          <a:p>
            <a:pPr indent="0" lvl="0" marL="0" marR="381000" rtl="0" algn="l">
              <a:lnSpc>
                <a:spcPct val="100000"/>
              </a:lnSpc>
              <a:spcBef>
                <a:spcPts val="0"/>
              </a:spcBef>
              <a:spcAft>
                <a:spcPts val="0"/>
              </a:spcAft>
              <a:buNone/>
            </a:pPr>
            <a:r>
              <a:rPr lang="en-US" sz="1800">
                <a:solidFill>
                  <a:srgbClr val="333333"/>
                </a:solidFill>
                <a:latin typeface="Arial"/>
                <a:ea typeface="Arial"/>
                <a:cs typeface="Arial"/>
                <a:sym typeface="Arial"/>
              </a:rPr>
              <a:t>Each clip stores hit frame indices, hitter identity (p1/p2), and per-frame player bounding boxes. Hitter identity is required — the model only sees the hitting player's crop, not both players.</a:t>
            </a:r>
            <a:endParaRPr sz="1800">
              <a:solidFill>
                <a:srgbClr val="333333"/>
              </a:solidFill>
              <a:latin typeface="Arial"/>
              <a:ea typeface="Arial"/>
              <a:cs typeface="Arial"/>
              <a:sym typeface="Arial"/>
            </a:endParaRPr>
          </a:p>
        </p:txBody>
      </p:sp>
      <p:sp>
        <p:nvSpPr>
          <p:cNvPr id="351" name="Google Shape;351;g3c88880a09f_0_62"/>
          <p:cNvSpPr txBox="1"/>
          <p:nvPr>
            <p:ph type="title"/>
          </p:nvPr>
        </p:nvSpPr>
        <p:spPr>
          <a:xfrm>
            <a:off x="912975" y="400400"/>
            <a:ext cx="10362900" cy="14877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400"/>
              <a:buNone/>
            </a:pPr>
            <a:r>
              <a:rPr lang="en-US"/>
              <a:t>Dataset Construction</a:t>
            </a:r>
            <a:endParaRPr/>
          </a:p>
          <a:p>
            <a:pPr indent="-417689" lvl="0" marL="457200" rtl="0" algn="l">
              <a:lnSpc>
                <a:spcPct val="100000"/>
              </a:lnSpc>
              <a:spcBef>
                <a:spcPts val="0"/>
              </a:spcBef>
              <a:spcAft>
                <a:spcPts val="0"/>
              </a:spcAft>
              <a:buClr>
                <a:srgbClr val="FF0000"/>
              </a:buClr>
              <a:buSzPts val="2978"/>
              <a:buChar char="-"/>
            </a:pPr>
            <a:r>
              <a:rPr lang="en-US" sz="2977">
                <a:solidFill>
                  <a:srgbClr val="FF0000"/>
                </a:solidFill>
              </a:rPr>
              <a:t>No existing dataset. We built one from scratch</a:t>
            </a:r>
            <a:endParaRPr sz="2977">
              <a:solidFill>
                <a:srgbClr val="FF0000"/>
              </a:solidFill>
            </a:endParaRPr>
          </a:p>
        </p:txBody>
      </p:sp>
      <p:pic>
        <p:nvPicPr>
          <p:cNvPr id="352" name="Google Shape;352;g3c88880a09f_0_62"/>
          <p:cNvPicPr preferRelativeResize="0"/>
          <p:nvPr/>
        </p:nvPicPr>
        <p:blipFill>
          <a:blip r:embed="rId3">
            <a:alphaModFix/>
          </a:blip>
          <a:stretch>
            <a:fillRect/>
          </a:stretch>
        </p:blipFill>
        <p:spPr>
          <a:xfrm>
            <a:off x="1036088" y="2891600"/>
            <a:ext cx="4871219" cy="3044512"/>
          </a:xfrm>
          <a:prstGeom prst="rect">
            <a:avLst/>
          </a:prstGeom>
          <a:noFill/>
          <a:ln>
            <a:noFill/>
          </a:ln>
        </p:spPr>
      </p:pic>
      <p:pic>
        <p:nvPicPr>
          <p:cNvPr id="353" name="Google Shape;353;g3c88880a09f_0_62"/>
          <p:cNvPicPr preferRelativeResize="0"/>
          <p:nvPr/>
        </p:nvPicPr>
        <p:blipFill>
          <a:blip r:embed="rId4">
            <a:alphaModFix/>
          </a:blip>
          <a:stretch>
            <a:fillRect/>
          </a:stretch>
        </p:blipFill>
        <p:spPr>
          <a:xfrm>
            <a:off x="5907312" y="2891604"/>
            <a:ext cx="4871224" cy="304451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b3ab29c72c_0_41"/>
          <p:cNvSpPr txBox="1"/>
          <p:nvPr>
            <p:ph type="title"/>
          </p:nvPr>
        </p:nvSpPr>
        <p:spPr>
          <a:xfrm>
            <a:off x="736454" y="657945"/>
            <a:ext cx="10362900" cy="1193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C4400"/>
              </a:buClr>
              <a:buSzPts val="4400"/>
              <a:buFont typeface="Impact"/>
              <a:buNone/>
            </a:pPr>
            <a:r>
              <a:rPr lang="en-US"/>
              <a:t>Pipeline</a:t>
            </a:r>
            <a:endParaRPr sz="3843"/>
          </a:p>
        </p:txBody>
      </p:sp>
      <p:pic>
        <p:nvPicPr>
          <p:cNvPr id="359" name="Google Shape;359;g3b3ab29c72c_0_41"/>
          <p:cNvPicPr preferRelativeResize="0"/>
          <p:nvPr/>
        </p:nvPicPr>
        <p:blipFill>
          <a:blip r:embed="rId3">
            <a:alphaModFix/>
          </a:blip>
          <a:stretch>
            <a:fillRect/>
          </a:stretch>
        </p:blipFill>
        <p:spPr>
          <a:xfrm>
            <a:off x="518876" y="2024950"/>
            <a:ext cx="11151098" cy="3973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c88880a09f_0_35"/>
          <p:cNvSpPr txBox="1"/>
          <p:nvPr>
            <p:ph idx="1" type="body"/>
          </p:nvPr>
        </p:nvSpPr>
        <p:spPr>
          <a:xfrm>
            <a:off x="912975" y="2443950"/>
            <a:ext cx="9955800" cy="3682200"/>
          </a:xfrm>
          <a:prstGeom prst="rect">
            <a:avLst/>
          </a:prstGeom>
          <a:noFill/>
          <a:ln>
            <a:noFill/>
          </a:ln>
        </p:spPr>
        <p:txBody>
          <a:bodyPr anchorCtr="0" anchor="t" bIns="45700" lIns="91425" spcFirstLastPara="1" rIns="91425" wrap="square" tIns="45700">
            <a:normAutofit lnSpcReduction="10000"/>
          </a:bodyPr>
          <a:lstStyle/>
          <a:p>
            <a:pPr indent="-412750" lvl="0" marL="457200" marR="381000" rtl="0" algn="l">
              <a:lnSpc>
                <a:spcPct val="150000"/>
              </a:lnSpc>
              <a:spcBef>
                <a:spcPts val="1200"/>
              </a:spcBef>
              <a:spcAft>
                <a:spcPts val="0"/>
              </a:spcAft>
              <a:buSzPts val="2900"/>
              <a:buFont typeface="Arial"/>
              <a:buAutoNum type="arabicPeriod"/>
            </a:pPr>
            <a:r>
              <a:rPr lang="en-US" sz="2900">
                <a:latin typeface="Arial"/>
                <a:ea typeface="Arial"/>
                <a:cs typeface="Arial"/>
                <a:sym typeface="Arial"/>
              </a:rPr>
              <a:t>I</a:t>
            </a:r>
            <a:r>
              <a:rPr lang="en-US" sz="2900">
                <a:latin typeface="Arial"/>
                <a:ea typeface="Arial"/>
                <a:cs typeface="Arial"/>
                <a:sym typeface="Arial"/>
              </a:rPr>
              <a:t>Identity (baseline)	0.4M</a:t>
            </a:r>
            <a:endParaRPr sz="2900">
              <a:latin typeface="Arial"/>
              <a:ea typeface="Arial"/>
              <a:cs typeface="Arial"/>
              <a:sym typeface="Arial"/>
            </a:endParaRPr>
          </a:p>
          <a:p>
            <a:pPr indent="-412750" lvl="0" marL="457200" marR="381000" rtl="0" algn="l">
              <a:lnSpc>
                <a:spcPct val="150000"/>
              </a:lnSpc>
              <a:spcBef>
                <a:spcPts val="1200"/>
              </a:spcBef>
              <a:spcAft>
                <a:spcPts val="0"/>
              </a:spcAft>
              <a:buSzPts val="2900"/>
              <a:buFont typeface="Arial"/>
              <a:buAutoNum type="arabicPeriod"/>
            </a:pPr>
            <a:r>
              <a:rPr lang="en-US" sz="2900">
                <a:latin typeface="Arial"/>
                <a:ea typeface="Arial"/>
                <a:cs typeface="Arial"/>
                <a:sym typeface="Arial"/>
              </a:rPr>
              <a:t>BiLSTM + dropout	1997    1.1M</a:t>
            </a:r>
            <a:endParaRPr sz="2900">
              <a:latin typeface="Arial"/>
              <a:ea typeface="Arial"/>
              <a:cs typeface="Arial"/>
              <a:sym typeface="Arial"/>
            </a:endParaRPr>
          </a:p>
          <a:p>
            <a:pPr indent="-412750" lvl="0" marL="457200" marR="381000" rtl="0" algn="l">
              <a:lnSpc>
                <a:spcPct val="150000"/>
              </a:lnSpc>
              <a:spcBef>
                <a:spcPts val="1200"/>
              </a:spcBef>
              <a:spcAft>
                <a:spcPts val="0"/>
              </a:spcAft>
              <a:buSzPts val="2900"/>
              <a:buFont typeface="Arial"/>
              <a:buAutoNum type="arabicPeriod"/>
            </a:pPr>
            <a:r>
              <a:rPr lang="en-US" sz="2900">
                <a:latin typeface="Arial"/>
                <a:ea typeface="Arial"/>
                <a:cs typeface="Arial"/>
                <a:sym typeface="Arial"/>
              </a:rPr>
              <a:t>Transformer			2017    6.8M</a:t>
            </a:r>
            <a:endParaRPr sz="2900">
              <a:latin typeface="Arial"/>
              <a:ea typeface="Arial"/>
              <a:cs typeface="Arial"/>
              <a:sym typeface="Arial"/>
            </a:endParaRPr>
          </a:p>
          <a:p>
            <a:pPr indent="-412750" lvl="0" marL="457200" marR="381000" rtl="0" algn="l">
              <a:lnSpc>
                <a:spcPct val="150000"/>
              </a:lnSpc>
              <a:spcBef>
                <a:spcPts val="1200"/>
              </a:spcBef>
              <a:spcAft>
                <a:spcPts val="0"/>
              </a:spcAft>
              <a:buSzPts val="2900"/>
              <a:buFont typeface="Arial"/>
              <a:buAutoNum type="arabicPeriod"/>
            </a:pPr>
            <a:r>
              <a:rPr lang="en-US" sz="2900">
                <a:latin typeface="Arial"/>
                <a:ea typeface="Arial"/>
                <a:cs typeface="Arial"/>
                <a:sym typeface="Arial"/>
              </a:rPr>
              <a:t>Mamba2				2024    1.4M</a:t>
            </a:r>
            <a:endParaRPr sz="2900">
              <a:latin typeface="Arial"/>
              <a:ea typeface="Arial"/>
              <a:cs typeface="Arial"/>
              <a:sym typeface="Arial"/>
            </a:endParaRPr>
          </a:p>
          <a:p>
            <a:pPr indent="-412750" lvl="0" marL="457200" marR="381000" rtl="0" algn="l">
              <a:lnSpc>
                <a:spcPct val="150000"/>
              </a:lnSpc>
              <a:spcBef>
                <a:spcPts val="1200"/>
              </a:spcBef>
              <a:spcAft>
                <a:spcPts val="0"/>
              </a:spcAft>
              <a:buSzPts val="2900"/>
              <a:buFont typeface="Arial"/>
              <a:buAutoNum type="arabicPeriod"/>
            </a:pPr>
            <a:r>
              <a:rPr lang="en-US" sz="2900">
                <a:latin typeface="Arial"/>
                <a:ea typeface="Arial"/>
                <a:cs typeface="Arial"/>
                <a:sym typeface="Arial"/>
              </a:rPr>
              <a:t>BiMamba2				2024    2.3M   ← proposed</a:t>
            </a:r>
            <a:endParaRPr sz="2900">
              <a:latin typeface="Arial"/>
              <a:ea typeface="Arial"/>
              <a:cs typeface="Arial"/>
              <a:sym typeface="Arial"/>
            </a:endParaRPr>
          </a:p>
        </p:txBody>
      </p:sp>
      <p:sp>
        <p:nvSpPr>
          <p:cNvPr id="365" name="Google Shape;365;g3c88880a09f_0_35"/>
          <p:cNvSpPr txBox="1"/>
          <p:nvPr>
            <p:ph type="title"/>
          </p:nvPr>
        </p:nvSpPr>
        <p:spPr>
          <a:xfrm>
            <a:off x="912979" y="1250845"/>
            <a:ext cx="10362900" cy="1193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C4400"/>
              </a:buClr>
              <a:buSzPts val="4400"/>
              <a:buFont typeface="Impact"/>
              <a:buNone/>
            </a:pPr>
            <a:r>
              <a:rPr lang="en-US"/>
              <a:t>Variants</a:t>
            </a:r>
            <a:endParaRPr sz="3843"/>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c88880a09f_0_41"/>
          <p:cNvSpPr txBox="1"/>
          <p:nvPr>
            <p:ph type="title"/>
          </p:nvPr>
        </p:nvSpPr>
        <p:spPr>
          <a:xfrm>
            <a:off x="315363" y="550876"/>
            <a:ext cx="10362900" cy="1720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C4400"/>
              </a:buClr>
              <a:buSzPts val="4400"/>
              <a:buFont typeface="Impact"/>
              <a:buNone/>
            </a:pPr>
            <a:r>
              <a:rPr lang="en-US"/>
              <a:t>Loss: Why EDL? </a:t>
            </a:r>
            <a:r>
              <a:rPr b="0" lang="en-US" sz="2900"/>
              <a:t>Expected Displacement Loss</a:t>
            </a:r>
            <a:endParaRPr b="0" sz="2900"/>
          </a:p>
        </p:txBody>
      </p:sp>
      <p:pic>
        <p:nvPicPr>
          <p:cNvPr id="371" name="Google Shape;371;g3c88880a09f_0_41"/>
          <p:cNvPicPr preferRelativeResize="0"/>
          <p:nvPr/>
        </p:nvPicPr>
        <p:blipFill>
          <a:blip r:embed="rId3">
            <a:alphaModFix/>
          </a:blip>
          <a:stretch>
            <a:fillRect/>
          </a:stretch>
        </p:blipFill>
        <p:spPr>
          <a:xfrm>
            <a:off x="1185063" y="1766350"/>
            <a:ext cx="8623525" cy="4103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d0d24bea63_0_29"/>
          <p:cNvSpPr txBox="1"/>
          <p:nvPr>
            <p:ph type="title"/>
          </p:nvPr>
        </p:nvSpPr>
        <p:spPr>
          <a:xfrm>
            <a:off x="315363" y="227726"/>
            <a:ext cx="10362900" cy="17208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C4400"/>
              </a:buClr>
              <a:buSzPts val="4400"/>
              <a:buFont typeface="Impact"/>
              <a:buNone/>
            </a:pPr>
            <a:r>
              <a:rPr lang="en-US"/>
              <a:t>The Collapse</a:t>
            </a:r>
            <a:endParaRPr b="0" sz="2900"/>
          </a:p>
        </p:txBody>
      </p:sp>
      <p:pic>
        <p:nvPicPr>
          <p:cNvPr id="377" name="Google Shape;377;g3d0d24bea63_0_29"/>
          <p:cNvPicPr preferRelativeResize="0"/>
          <p:nvPr/>
        </p:nvPicPr>
        <p:blipFill>
          <a:blip r:embed="rId3">
            <a:alphaModFix/>
          </a:blip>
          <a:stretch>
            <a:fillRect/>
          </a:stretch>
        </p:blipFill>
        <p:spPr>
          <a:xfrm>
            <a:off x="1955600" y="1556650"/>
            <a:ext cx="7304308" cy="47488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d0d24bea63_0_16"/>
          <p:cNvSpPr txBox="1"/>
          <p:nvPr>
            <p:ph type="title"/>
          </p:nvPr>
        </p:nvSpPr>
        <p:spPr>
          <a:xfrm>
            <a:off x="912979" y="329770"/>
            <a:ext cx="10362900" cy="1193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C4400"/>
              </a:buClr>
              <a:buSzPts val="4400"/>
              <a:buFont typeface="Impact"/>
              <a:buNone/>
            </a:pPr>
            <a:r>
              <a:rPr lang="en-US"/>
              <a:t>Result</a:t>
            </a:r>
            <a:endParaRPr sz="3843"/>
          </a:p>
        </p:txBody>
      </p:sp>
      <p:pic>
        <p:nvPicPr>
          <p:cNvPr id="383" name="Google Shape;383;g3d0d24bea63_0_16"/>
          <p:cNvPicPr preferRelativeResize="0"/>
          <p:nvPr/>
        </p:nvPicPr>
        <p:blipFill>
          <a:blip r:embed="rId3">
            <a:alphaModFix/>
          </a:blip>
          <a:stretch>
            <a:fillRect/>
          </a:stretch>
        </p:blipFill>
        <p:spPr>
          <a:xfrm>
            <a:off x="1014488" y="1275220"/>
            <a:ext cx="10159877" cy="50303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d0d24bea63_0_74"/>
          <p:cNvSpPr txBox="1"/>
          <p:nvPr>
            <p:ph type="title"/>
          </p:nvPr>
        </p:nvSpPr>
        <p:spPr>
          <a:xfrm>
            <a:off x="912967" y="176695"/>
            <a:ext cx="10362900" cy="1193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Window Robustness</a:t>
            </a:r>
            <a:endParaRPr/>
          </a:p>
        </p:txBody>
      </p:sp>
      <p:pic>
        <p:nvPicPr>
          <p:cNvPr id="390" name="Google Shape;390;g3d0d24bea63_0_74"/>
          <p:cNvPicPr preferRelativeResize="0"/>
          <p:nvPr/>
        </p:nvPicPr>
        <p:blipFill>
          <a:blip r:embed="rId3">
            <a:alphaModFix/>
          </a:blip>
          <a:stretch>
            <a:fillRect/>
          </a:stretch>
        </p:blipFill>
        <p:spPr>
          <a:xfrm>
            <a:off x="1329775" y="1122145"/>
            <a:ext cx="9529277" cy="51834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d0d24bea63_0_60"/>
          <p:cNvSpPr txBox="1"/>
          <p:nvPr/>
        </p:nvSpPr>
        <p:spPr>
          <a:xfrm>
            <a:off x="998900" y="1474450"/>
            <a:ext cx="10023000" cy="3948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sz="2900">
                <a:solidFill>
                  <a:srgbClr val="111111"/>
                </a:solidFill>
                <a:highlight>
                  <a:srgbClr val="FFFFFF"/>
                </a:highlight>
                <a:latin typeface="Helvetica Neue"/>
                <a:ea typeface="Helvetica Neue"/>
                <a:cs typeface="Helvetica Neue"/>
                <a:sym typeface="Helvetica Neue"/>
              </a:rPr>
              <a:t>[3×]	BiMamba2 matches Transformer Acc@1</a:t>
            </a:r>
            <a:r>
              <a:rPr lang="en-US" sz="2900">
                <a:solidFill>
                  <a:srgbClr val="111111"/>
                </a:solidFill>
                <a:highlight>
                  <a:srgbClr val="FFFFFF"/>
                </a:highlight>
                <a:latin typeface="Helvetica Neue"/>
                <a:ea typeface="Helvetica Neue"/>
                <a:cs typeface="Helvetica Neue"/>
                <a:sym typeface="Helvetica Neue"/>
              </a:rPr>
              <a:t> </a:t>
            </a:r>
            <a:br>
              <a:rPr lang="en-US" sz="2900">
                <a:solidFill>
                  <a:srgbClr val="111111"/>
                </a:solidFill>
                <a:highlight>
                  <a:srgbClr val="FFFFFF"/>
                </a:highlight>
                <a:latin typeface="Helvetica Neue"/>
                <a:ea typeface="Helvetica Neue"/>
                <a:cs typeface="Helvetica Neue"/>
                <a:sym typeface="Helvetica Neue"/>
              </a:rPr>
            </a:br>
            <a:r>
              <a:rPr lang="en-US" sz="2900">
                <a:solidFill>
                  <a:srgbClr val="111111"/>
                </a:solidFill>
                <a:highlight>
                  <a:srgbClr val="FFFFFF"/>
                </a:highlight>
                <a:latin typeface="Helvetica Neue"/>
                <a:ea typeface="Helvetica Neue"/>
                <a:cs typeface="Helvetica Neue"/>
                <a:sym typeface="Helvetica Neue"/>
              </a:rPr>
              <a:t>	</a:t>
            </a:r>
            <a:r>
              <a:rPr lang="en-US" sz="2900">
                <a:solidFill>
                  <a:srgbClr val="085041"/>
                </a:solidFill>
                <a:highlight>
                  <a:srgbClr val="FFFFFF"/>
                </a:highlight>
                <a:latin typeface="Helvetica Neue"/>
                <a:ea typeface="Helvetica Neue"/>
                <a:cs typeface="Helvetica Neue"/>
                <a:sym typeface="Helvetica Neue"/>
              </a:rPr>
              <a:t>3× fewer params. MAE 2.97 vs 3.88.</a:t>
            </a:r>
            <a:endParaRPr sz="2900">
              <a:solidFill>
                <a:srgbClr val="085041"/>
              </a:solidFill>
              <a:highlight>
                <a:srgbClr val="FFFFFF"/>
              </a:highlight>
              <a:latin typeface="Helvetica Neue"/>
              <a:ea typeface="Helvetica Neue"/>
              <a:cs typeface="Helvetica Neue"/>
              <a:sym typeface="Helvetica Neue"/>
            </a:endParaRPr>
          </a:p>
          <a:p>
            <a:pPr indent="0" lvl="0" marL="0" rtl="0" algn="l">
              <a:lnSpc>
                <a:spcPct val="100000"/>
              </a:lnSpc>
              <a:spcBef>
                <a:spcPts val="500"/>
              </a:spcBef>
              <a:spcAft>
                <a:spcPts val="0"/>
              </a:spcAft>
              <a:buNone/>
            </a:pPr>
            <a:r>
              <a:t/>
            </a:r>
            <a:endParaRPr sz="2900">
              <a:solidFill>
                <a:srgbClr val="111111"/>
              </a:solidFill>
              <a:highlight>
                <a:srgbClr val="FFFFFF"/>
              </a:highlight>
              <a:latin typeface="Helvetica Neue"/>
              <a:ea typeface="Helvetica Neue"/>
              <a:cs typeface="Helvetica Neue"/>
              <a:sym typeface="Helvetica Neue"/>
            </a:endParaRPr>
          </a:p>
          <a:p>
            <a:pPr indent="0" lvl="0" marL="0" rtl="0" algn="l">
              <a:lnSpc>
                <a:spcPct val="100000"/>
              </a:lnSpc>
              <a:spcBef>
                <a:spcPts val="500"/>
              </a:spcBef>
              <a:spcAft>
                <a:spcPts val="0"/>
              </a:spcAft>
              <a:buNone/>
            </a:pPr>
            <a:r>
              <a:rPr b="1" lang="en-US" sz="2900">
                <a:solidFill>
                  <a:srgbClr val="111111"/>
                </a:solidFill>
                <a:highlight>
                  <a:srgbClr val="FFFFFF"/>
                </a:highlight>
                <a:latin typeface="Helvetica Neue"/>
                <a:ea typeface="Helvetica Neue"/>
                <a:cs typeface="Helvetica Neue"/>
                <a:sym typeface="Helvetica Neue"/>
              </a:rPr>
              <a:t>[★]	Only head stable at T = 16 / 32 / 64 </a:t>
            </a:r>
            <a:br>
              <a:rPr lang="en-US" sz="2900">
                <a:solidFill>
                  <a:srgbClr val="111111"/>
                </a:solidFill>
                <a:highlight>
                  <a:srgbClr val="FFFFFF"/>
                </a:highlight>
                <a:latin typeface="Helvetica Neue"/>
                <a:ea typeface="Helvetica Neue"/>
                <a:cs typeface="Helvetica Neue"/>
                <a:sym typeface="Helvetica Neue"/>
              </a:rPr>
            </a:br>
            <a:r>
              <a:rPr lang="en-US" sz="2900">
                <a:solidFill>
                  <a:srgbClr val="111111"/>
                </a:solidFill>
                <a:highlight>
                  <a:srgbClr val="FFFFFF"/>
                </a:highlight>
                <a:latin typeface="Helvetica Neue"/>
                <a:ea typeface="Helvetica Neue"/>
                <a:cs typeface="Helvetica Neue"/>
                <a:sym typeface="Helvetica Neue"/>
              </a:rPr>
              <a:t>	</a:t>
            </a:r>
            <a:r>
              <a:rPr lang="en-US" sz="2900">
                <a:solidFill>
                  <a:srgbClr val="085041"/>
                </a:solidFill>
                <a:highlight>
                  <a:srgbClr val="FFFFFF"/>
                </a:highlight>
                <a:latin typeface="Helvetica Neue"/>
                <a:ea typeface="Helvetica Neue"/>
                <a:cs typeface="Helvetica Neue"/>
                <a:sym typeface="Helvetica Neue"/>
              </a:rPr>
              <a:t>Bidirectional scan ignores hit position.</a:t>
            </a:r>
            <a:endParaRPr sz="2900">
              <a:solidFill>
                <a:srgbClr val="085041"/>
              </a:solidFill>
              <a:highlight>
                <a:srgbClr val="FFFFFF"/>
              </a:highlight>
              <a:latin typeface="Helvetica Neue"/>
              <a:ea typeface="Helvetica Neue"/>
              <a:cs typeface="Helvetica Neue"/>
              <a:sym typeface="Helvetica Neue"/>
            </a:endParaRPr>
          </a:p>
          <a:p>
            <a:pPr indent="0" lvl="0" marL="0" rtl="0" algn="l">
              <a:lnSpc>
                <a:spcPct val="100000"/>
              </a:lnSpc>
              <a:spcBef>
                <a:spcPts val="500"/>
              </a:spcBef>
              <a:spcAft>
                <a:spcPts val="500"/>
              </a:spcAft>
              <a:buNone/>
            </a:pPr>
            <a:br>
              <a:rPr lang="en-US" sz="2900">
                <a:solidFill>
                  <a:srgbClr val="085041"/>
                </a:solidFill>
                <a:highlight>
                  <a:srgbClr val="FFFFFF"/>
                </a:highlight>
                <a:latin typeface="Helvetica Neue"/>
                <a:ea typeface="Helvetica Neue"/>
                <a:cs typeface="Helvetica Neue"/>
                <a:sym typeface="Helvetica Neue"/>
              </a:rPr>
            </a:br>
            <a:r>
              <a:rPr b="1" lang="en-US" sz="2900">
                <a:solidFill>
                  <a:srgbClr val="111111"/>
                </a:solidFill>
                <a:highlight>
                  <a:srgbClr val="FFFFFF"/>
                </a:highlight>
                <a:latin typeface="Helvetica Neue"/>
                <a:ea typeface="Helvetica Neue"/>
                <a:cs typeface="Helvetica Neue"/>
                <a:sym typeface="Helvetica Neue"/>
              </a:rPr>
              <a:t>[↕]		Loss function flips the ranking </a:t>
            </a:r>
            <a:br>
              <a:rPr lang="en-US" sz="2900">
                <a:solidFill>
                  <a:srgbClr val="111111"/>
                </a:solidFill>
                <a:highlight>
                  <a:srgbClr val="FFFFFF"/>
                </a:highlight>
                <a:latin typeface="Helvetica Neue"/>
                <a:ea typeface="Helvetica Neue"/>
                <a:cs typeface="Helvetica Neue"/>
                <a:sym typeface="Helvetica Neue"/>
              </a:rPr>
            </a:br>
            <a:r>
              <a:rPr lang="en-US" sz="2900">
                <a:solidFill>
                  <a:srgbClr val="111111"/>
                </a:solidFill>
                <a:highlight>
                  <a:srgbClr val="FFFFFF"/>
                </a:highlight>
                <a:latin typeface="Helvetica Neue"/>
                <a:ea typeface="Helvetica Neue"/>
                <a:cs typeface="Helvetica Neue"/>
                <a:sym typeface="Helvetica Neue"/>
              </a:rPr>
              <a:t>	</a:t>
            </a:r>
            <a:r>
              <a:rPr lang="en-US" sz="2900">
                <a:solidFill>
                  <a:srgbClr val="085041"/>
                </a:solidFill>
                <a:highlight>
                  <a:srgbClr val="FFFFFF"/>
                </a:highlight>
                <a:latin typeface="Helvetica Neue"/>
                <a:ea typeface="Helvetica Neue"/>
                <a:cs typeface="Helvetica Neue"/>
                <a:sym typeface="Helvetica Neue"/>
              </a:rPr>
              <a:t>EDL exposes LSTM. SSM absorbs it.</a:t>
            </a:r>
            <a:endParaRPr sz="2350">
              <a:solidFill>
                <a:srgbClr val="666666"/>
              </a:solidFill>
              <a:highlight>
                <a:srgbClr val="FFFFFF"/>
              </a:highlight>
              <a:latin typeface="Helvetica Neue"/>
              <a:ea typeface="Helvetica Neue"/>
              <a:cs typeface="Helvetica Neue"/>
              <a:sym typeface="Helvetica Neue"/>
            </a:endParaRPr>
          </a:p>
        </p:txBody>
      </p:sp>
      <p:sp>
        <p:nvSpPr>
          <p:cNvPr id="397" name="Google Shape;397;g3d0d24bea63_0_60"/>
          <p:cNvSpPr txBox="1"/>
          <p:nvPr>
            <p:ph type="title"/>
          </p:nvPr>
        </p:nvSpPr>
        <p:spPr>
          <a:xfrm>
            <a:off x="912979" y="281345"/>
            <a:ext cx="10362900" cy="1193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Key Finding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d0d24bea63_0_128"/>
          <p:cNvSpPr txBox="1"/>
          <p:nvPr>
            <p:ph type="title"/>
          </p:nvPr>
        </p:nvSpPr>
        <p:spPr>
          <a:xfrm>
            <a:off x="912979" y="1250845"/>
            <a:ext cx="10362900" cy="1193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SSM works better</a:t>
            </a:r>
            <a:endParaRPr/>
          </a:p>
        </p:txBody>
      </p:sp>
      <p:pic>
        <p:nvPicPr>
          <p:cNvPr id="404" name="Google Shape;404;g3d0d24bea63_0_128"/>
          <p:cNvPicPr preferRelativeResize="0"/>
          <p:nvPr/>
        </p:nvPicPr>
        <p:blipFill rotWithShape="1">
          <a:blip r:embed="rId3">
            <a:alphaModFix/>
          </a:blip>
          <a:srcRect b="0" l="0" r="0" t="14749"/>
          <a:stretch/>
        </p:blipFill>
        <p:spPr>
          <a:xfrm>
            <a:off x="1078500" y="2443950"/>
            <a:ext cx="10211799" cy="30326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c88880a09f_0_164"/>
          <p:cNvSpPr txBox="1"/>
          <p:nvPr>
            <p:ph type="title"/>
          </p:nvPr>
        </p:nvSpPr>
        <p:spPr>
          <a:xfrm>
            <a:off x="4" y="-174355"/>
            <a:ext cx="10362900" cy="11931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400"/>
              <a:buNone/>
            </a:pPr>
            <a:r>
              <a:rPr lang="en-US"/>
              <a:t>Future Experimental Plan</a:t>
            </a:r>
            <a:endParaRPr/>
          </a:p>
        </p:txBody>
      </p:sp>
      <p:pic>
        <p:nvPicPr>
          <p:cNvPr id="411" name="Google Shape;411;g3c88880a09f_0_164"/>
          <p:cNvPicPr preferRelativeResize="0"/>
          <p:nvPr/>
        </p:nvPicPr>
        <p:blipFill>
          <a:blip r:embed="rId3">
            <a:alphaModFix/>
          </a:blip>
          <a:stretch>
            <a:fillRect/>
          </a:stretch>
        </p:blipFill>
        <p:spPr>
          <a:xfrm>
            <a:off x="319300" y="1241625"/>
            <a:ext cx="11550249" cy="4793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g3d0d24bea63_0_42"/>
          <p:cNvPicPr preferRelativeResize="0"/>
          <p:nvPr/>
        </p:nvPicPr>
        <p:blipFill>
          <a:blip r:embed="rId3">
            <a:alphaModFix/>
          </a:blip>
          <a:stretch>
            <a:fillRect/>
          </a:stretch>
        </p:blipFill>
        <p:spPr>
          <a:xfrm>
            <a:off x="152400" y="0"/>
            <a:ext cx="11884027" cy="641783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9"/>
          <p:cNvSpPr txBox="1"/>
          <p:nvPr>
            <p:ph idx="1" type="body"/>
          </p:nvPr>
        </p:nvSpPr>
        <p:spPr>
          <a:xfrm>
            <a:off x="2620743" y="1693485"/>
            <a:ext cx="6947400" cy="3471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E Presentation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2017-05-17T21:58:52Z</dcterms:created>
  <dc:creator>Jack Forkey</dc:creator>
</cp:coreProperties>
</file>